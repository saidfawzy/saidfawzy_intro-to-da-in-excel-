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4" r:id="rId4"/>
    <p:sldId id="275" r:id="rId5"/>
    <p:sldId id="276" r:id="rId6"/>
    <p:sldId id="277" r:id="rId7"/>
    <p:sldId id="258" r:id="rId8"/>
    <p:sldId id="278" r:id="rId9"/>
    <p:sldId id="279" r:id="rId10"/>
    <p:sldId id="280" r:id="rId11"/>
    <p:sldId id="281" r:id="rId12"/>
    <p:sldId id="259" r:id="rId13"/>
    <p:sldId id="282" r:id="rId14"/>
    <p:sldId id="283" r:id="rId15"/>
    <p:sldId id="284" r:id="rId16"/>
    <p:sldId id="286" r:id="rId17"/>
    <p:sldId id="285" r:id="rId18"/>
    <p:sldId id="287" r:id="rId19"/>
    <p:sldId id="288" r:id="rId20"/>
    <p:sldId id="289" r:id="rId21"/>
    <p:sldId id="263" r:id="rId22"/>
    <p:sldId id="264" r:id="rId23"/>
    <p:sldId id="265" r:id="rId24"/>
    <p:sldId id="267" r:id="rId25"/>
    <p:sldId id="26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273"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E20D47-8950-4345-B591-B1A084BE3FF9}"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1450395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20D47-8950-4345-B591-B1A084BE3FF9}"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1771969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20D47-8950-4345-B591-B1A084BE3FF9}"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2107065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E20D47-8950-4345-B591-B1A084BE3FF9}" type="datetimeFigureOut">
              <a:rPr lang="en-US" smtClean="0"/>
              <a:t>8/8/2022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1868301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E20D47-8950-4345-B591-B1A084BE3FF9}" type="datetimeFigureOut">
              <a:rPr lang="en-US" smtClean="0"/>
              <a:t>8/8/2022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1268690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E20D47-8950-4345-B591-B1A084BE3FF9}" type="datetimeFigureOut">
              <a:rPr lang="en-US" smtClean="0"/>
              <a:t>8/8/2022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861917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20D47-8950-4345-B591-B1A084BE3FF9}" type="datetimeFigureOut">
              <a:rPr lang="en-US" smtClean="0"/>
              <a:t>8/8/2022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3363915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E20D47-8950-4345-B591-B1A084BE3FF9}" type="datetimeFigureOut">
              <a:rPr lang="en-US" smtClean="0"/>
              <a:t>8/8/2022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1595717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20D47-8950-4345-B591-B1A084BE3FF9}" type="datetimeFigureOut">
              <a:rPr lang="en-US" smtClean="0"/>
              <a:t>8/8/2022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2727608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20D47-8950-4345-B591-B1A084BE3FF9}"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34705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20D47-8950-4345-B591-B1A084BE3FF9}"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8B1B4-76D7-4D05-B4C3-FF1900C6786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18178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20D47-8950-4345-B591-B1A084BE3FF9}"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3985843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20D47-8950-4345-B591-B1A084BE3FF9}"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8B1B4-76D7-4D05-B4C3-FF1900C6786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637207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20D47-8950-4345-B591-B1A084BE3FF9}"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30956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20D47-8950-4345-B591-B1A084BE3FF9}"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1502590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20D47-8950-4345-B591-B1A084BE3FF9}"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8B1B4-76D7-4D05-B4C3-FF1900C67867}" type="slidenum">
              <a:rPr lang="en-US" smtClean="0"/>
              <a:t>‹#›</a:t>
            </a:fld>
            <a:endParaRPr lang="en-US"/>
          </a:p>
        </p:txBody>
      </p:sp>
    </p:spTree>
    <p:extLst>
      <p:ext uri="{BB962C8B-B14F-4D97-AF65-F5344CB8AC3E}">
        <p14:creationId xmlns:p14="http://schemas.microsoft.com/office/powerpoint/2010/main" val="2410046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9E20D47-8950-4345-B591-B1A084BE3FF9}" type="datetimeFigureOut">
              <a:rPr lang="en-US" smtClean="0"/>
              <a:t>8/8/2022</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F98B1B4-76D7-4D05-B4C3-FF1900C67867}" type="slidenum">
              <a:rPr lang="en-US" smtClean="0"/>
              <a:t>‹#›</a:t>
            </a:fld>
            <a:endParaRPr lang="en-US"/>
          </a:p>
        </p:txBody>
      </p:sp>
    </p:spTree>
    <p:extLst>
      <p:ext uri="{BB962C8B-B14F-4D97-AF65-F5344CB8AC3E}">
        <p14:creationId xmlns:p14="http://schemas.microsoft.com/office/powerpoint/2010/main" val="9344200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wmf"/><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wmf"/><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wmf"/><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wmf"/><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91514" y="601683"/>
            <a:ext cx="11420141" cy="1733798"/>
          </a:xfrm>
          <a:prstGeom prst="rect">
            <a:avLst/>
          </a:prstGeom>
        </p:spPr>
      </p:pic>
      <p:sp>
        <p:nvSpPr>
          <p:cNvPr id="5" name="Rectangle 4"/>
          <p:cNvSpPr/>
          <p:nvPr/>
        </p:nvSpPr>
        <p:spPr>
          <a:xfrm>
            <a:off x="460886" y="4775023"/>
            <a:ext cx="9713629" cy="923330"/>
          </a:xfrm>
          <a:prstGeom prst="rect">
            <a:avLst/>
          </a:prstGeom>
          <a:noFill/>
        </p:spPr>
        <p:txBody>
          <a:bodyPr wrap="square" lIns="91440" tIns="45720" rIns="91440" bIns="45720">
            <a:spAutoFit/>
          </a:bodyPr>
          <a:lstStyle/>
          <a:p>
            <a:pPr algn="ctr"/>
            <a:r>
              <a:rPr lang="en-US" sz="5400" b="1" cap="none" spc="0" dirty="0">
                <a:ln w="0"/>
                <a:solidFill>
                  <a:srgbClr val="00B050"/>
                </a:solidFill>
                <a:effectLst>
                  <a:outerShdw blurRad="38100" dist="25400" dir="5400000" algn="ctr" rotWithShape="0">
                    <a:srgbClr val="6E747A">
                      <a:alpha val="43000"/>
                    </a:srgbClr>
                  </a:outerShdw>
                </a:effectLst>
              </a:rPr>
              <a:t>Module 03: </a:t>
            </a:r>
            <a:r>
              <a:rPr lang="en-US" sz="5400" b="1" dirty="0">
                <a:ln w="0"/>
                <a:solidFill>
                  <a:srgbClr val="00B050"/>
                </a:solidFill>
                <a:effectLst>
                  <a:outerShdw blurRad="38100" dist="25400" dir="5400000" algn="ctr" rotWithShape="0">
                    <a:srgbClr val="6E747A">
                      <a:alpha val="43000"/>
                    </a:srgbClr>
                  </a:outerShdw>
                </a:effectLst>
              </a:rPr>
              <a:t>Basic Pivot Tables </a:t>
            </a:r>
            <a:endParaRPr lang="en-US" sz="5400" b="1" cap="none" spc="0" dirty="0">
              <a:ln w="0"/>
              <a:solidFill>
                <a:srgbClr val="00B050"/>
              </a:solidFill>
              <a:effectLst>
                <a:outerShdw blurRad="38100" dist="25400" dir="5400000" algn="ctr" rotWithShape="0">
                  <a:srgbClr val="6E747A">
                    <a:alpha val="43000"/>
                  </a:srgbClr>
                </a:outerShdw>
              </a:effectLst>
            </a:endParaRPr>
          </a:p>
        </p:txBody>
      </p:sp>
      <p:sp>
        <p:nvSpPr>
          <p:cNvPr id="7" name="Subtitle 2"/>
          <p:cNvSpPr txBox="1">
            <a:spLocks/>
          </p:cNvSpPr>
          <p:nvPr/>
        </p:nvSpPr>
        <p:spPr>
          <a:xfrm>
            <a:off x="4530272" y="2896105"/>
            <a:ext cx="7295638" cy="1066800"/>
          </a:xfrm>
          <a:prstGeom prst="rect">
            <a:avLst/>
          </a:prstGeom>
          <a:solidFill>
            <a:schemeClr val="accent4">
              <a:lumMod val="60000"/>
              <a:lumOff val="40000"/>
            </a:schemeClr>
          </a:solidFill>
        </p:spPr>
        <p:style>
          <a:lnRef idx="0">
            <a:schemeClr val="accent3"/>
          </a:lnRef>
          <a:fillRef idx="3">
            <a:schemeClr val="accent3"/>
          </a:fillRef>
          <a:effectRef idx="3">
            <a:schemeClr val="accent3"/>
          </a:effectRef>
          <a:fontRef idx="minor">
            <a:schemeClr val="lt1"/>
          </a:fontRef>
        </p:style>
        <p:txBody>
          <a:bodyPr>
            <a:normAutofit/>
          </a:bodyPr>
          <a:lstStyle/>
          <a:p>
            <a:pPr algn="ctr">
              <a:spcBef>
                <a:spcPct val="20000"/>
              </a:spcBef>
              <a:buFont typeface="Arial" pitchFamily="34" charset="0"/>
              <a:buNone/>
              <a:defRPr/>
            </a:pPr>
            <a:endParaRPr lang="en-US" sz="3200" dirty="0">
              <a:solidFill>
                <a:prstClr val="black"/>
              </a:solidFill>
              <a:effectLst>
                <a:innerShdw blurRad="63500" dist="50800" dir="8100000">
                  <a:prstClr val="black">
                    <a:alpha val="50000"/>
                  </a:prstClr>
                </a:innerShdw>
              </a:effectLst>
              <a:latin typeface="Segoe UI" pitchFamily="34" charset="0"/>
              <a:cs typeface="Segoe UI" pitchFamily="34"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5171" y="3052881"/>
            <a:ext cx="2280557" cy="783024"/>
          </a:xfrm>
          <a:prstGeom prst="rect">
            <a:avLst/>
          </a:prstGeom>
          <a:solidFill>
            <a:schemeClr val="accent4">
              <a:lumMod val="60000"/>
              <a:lumOff val="40000"/>
            </a:schemeClr>
          </a:solidFill>
        </p:spPr>
      </p:pic>
      <p:sp>
        <p:nvSpPr>
          <p:cNvPr id="9" name="Rectangle 8"/>
          <p:cNvSpPr/>
          <p:nvPr/>
        </p:nvSpPr>
        <p:spPr>
          <a:xfrm>
            <a:off x="5000477" y="2982728"/>
            <a:ext cx="3362074" cy="923330"/>
          </a:xfrm>
          <a:prstGeom prst="rect">
            <a:avLst/>
          </a:prstGeom>
          <a:solidFill>
            <a:schemeClr val="accent4">
              <a:lumMod val="60000"/>
              <a:lumOff val="40000"/>
            </a:schemeClr>
          </a:solidFill>
        </p:spPr>
        <p:txBody>
          <a:bodyPr wrap="none" lIns="91440" tIns="45720" rIns="91440" bIns="45720">
            <a:spAutoFit/>
          </a:bodyPr>
          <a:lstStyle/>
          <a:p>
            <a:pPr algn="ctr"/>
            <a:r>
              <a:rPr lang="en-US" sz="5400" b="1" cap="none" spc="50" dirty="0">
                <a:ln w="0"/>
                <a:solidFill>
                  <a:schemeClr val="tx1">
                    <a:lumMod val="65000"/>
                    <a:lumOff val="35000"/>
                  </a:schemeClr>
                </a:solidFill>
                <a:effectLst>
                  <a:innerShdw blurRad="63500" dist="50800" dir="13500000">
                    <a:srgbClr val="000000">
                      <a:alpha val="50000"/>
                    </a:srgbClr>
                  </a:innerShdw>
                </a:effectLst>
              </a:rPr>
              <a:t>Said </a:t>
            </a:r>
            <a:r>
              <a:rPr lang="en-US" sz="5400" b="1" cap="none" spc="50" dirty="0" err="1">
                <a:ln w="0"/>
                <a:solidFill>
                  <a:schemeClr val="tx1">
                    <a:lumMod val="65000"/>
                    <a:lumOff val="35000"/>
                  </a:schemeClr>
                </a:solidFill>
                <a:effectLst>
                  <a:innerShdw blurRad="63500" dist="50800" dir="13500000">
                    <a:srgbClr val="000000">
                      <a:alpha val="50000"/>
                    </a:srgbClr>
                  </a:innerShdw>
                </a:effectLst>
              </a:rPr>
              <a:t>Fawzy</a:t>
            </a:r>
            <a:endParaRPr lang="en-US" sz="5400" b="1" cap="none" spc="50" dirty="0">
              <a:ln w="0"/>
              <a:solidFill>
                <a:schemeClr val="tx1">
                  <a:lumMod val="65000"/>
                  <a:lumOff val="35000"/>
                </a:schemeClr>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2658251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10524" y="1744960"/>
            <a:ext cx="8077468" cy="2308324"/>
          </a:xfrm>
          <a:prstGeom prst="rect">
            <a:avLst/>
          </a:prstGeom>
          <a:noFill/>
        </p:spPr>
        <p:txBody>
          <a:bodyPr wrap="none" lIns="91440" tIns="45720" rIns="91440" bIns="45720">
            <a:spAutoFit/>
          </a:bodyPr>
          <a:lstStyle/>
          <a:p>
            <a:pPr algn="ctr"/>
            <a:r>
              <a:rPr lang="en-US" sz="7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Demo </a:t>
            </a:r>
            <a:r>
              <a:rPr lang="ar-EG" sz="7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3</a:t>
            </a:r>
            <a:r>
              <a:rPr lang="en-US" sz="7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 A</a:t>
            </a:r>
            <a:endParaRPr lang="ar-EG" sz="7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a:p>
            <a:pPr algn="ctr"/>
            <a:r>
              <a:rPr lang="en-US" sz="7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Basic Pivot Tables </a:t>
            </a:r>
          </a:p>
        </p:txBody>
      </p:sp>
    </p:spTree>
    <p:extLst>
      <p:ext uri="{BB962C8B-B14F-4D97-AF65-F5344CB8AC3E}">
        <p14:creationId xmlns:p14="http://schemas.microsoft.com/office/powerpoint/2010/main" val="385480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93818" y="2613910"/>
            <a:ext cx="6529263" cy="3731904"/>
          </a:xfrm>
          <a:prstGeom prst="rect">
            <a:avLst/>
          </a:prstGeom>
        </p:spPr>
      </p:pic>
      <p:sp>
        <p:nvSpPr>
          <p:cNvPr id="3" name="Rectangle 2"/>
          <p:cNvSpPr/>
          <p:nvPr/>
        </p:nvSpPr>
        <p:spPr>
          <a:xfrm>
            <a:off x="2253279" y="1589797"/>
            <a:ext cx="6769802" cy="584775"/>
          </a:xfrm>
          <a:prstGeom prst="rect">
            <a:avLst/>
          </a:prstGeom>
          <a:noFill/>
        </p:spPr>
        <p:txBody>
          <a:bodyPr wrap="none" lIns="91440" tIns="45720" rIns="91440" bIns="45720">
            <a:spAutoFit/>
          </a:bodyPr>
          <a:lstStyle/>
          <a:p>
            <a:pPr algn="ctr"/>
            <a:r>
              <a:rPr lang="en-US" sz="3200" dirty="0">
                <a:ln w="0"/>
                <a:effectLst>
                  <a:outerShdw blurRad="38100" dist="19050" dir="2700000" algn="tl" rotWithShape="0">
                    <a:schemeClr val="dk1">
                      <a:alpha val="40000"/>
                    </a:schemeClr>
                  </a:outerShdw>
                </a:effectLst>
              </a:rPr>
              <a:t>Design &gt;Summaries with pivot table</a:t>
            </a:r>
            <a:endParaRPr lang="en-US" sz="3200" b="0" cap="none" spc="0" dirty="0">
              <a:ln w="0"/>
              <a:solidFill>
                <a:schemeClr val="tx1"/>
              </a:solidFill>
              <a:effectLst>
                <a:outerShdw blurRad="38100" dist="19050" dir="2700000" algn="tl" rotWithShape="0">
                  <a:schemeClr val="dk1">
                    <a:alpha val="40000"/>
                  </a:schemeClr>
                </a:outerShdw>
              </a:effectLst>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4265" y="661048"/>
            <a:ext cx="1619014" cy="1619014"/>
          </a:xfrm>
          <a:prstGeom prst="rect">
            <a:avLst/>
          </a:prstGeom>
        </p:spPr>
      </p:pic>
    </p:spTree>
    <p:extLst>
      <p:ext uri="{BB962C8B-B14F-4D97-AF65-F5344CB8AC3E}">
        <p14:creationId xmlns:p14="http://schemas.microsoft.com/office/powerpoint/2010/main" val="3493340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889109" y="1013917"/>
            <a:ext cx="2105025" cy="5210175"/>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62576" y="4793661"/>
            <a:ext cx="1619014" cy="1619014"/>
          </a:xfrm>
          <a:prstGeom prst="rect">
            <a:avLst/>
          </a:prstGeom>
        </p:spPr>
      </p:pic>
      <p:sp>
        <p:nvSpPr>
          <p:cNvPr id="4" name="Rectangle 3"/>
          <p:cNvSpPr/>
          <p:nvPr/>
        </p:nvSpPr>
        <p:spPr>
          <a:xfrm>
            <a:off x="651812" y="319138"/>
            <a:ext cx="4071949" cy="584775"/>
          </a:xfrm>
          <a:prstGeom prst="rect">
            <a:avLst/>
          </a:prstGeom>
          <a:noFill/>
        </p:spPr>
        <p:txBody>
          <a:bodyPr wrap="none" lIns="91440" tIns="45720" rIns="91440" bIns="45720">
            <a:spAutoFit/>
          </a:bodyPr>
          <a:lstStyle/>
          <a:p>
            <a:pPr algn="ctr"/>
            <a:r>
              <a:rPr lang="en-US" sz="3200" dirty="0">
                <a:ln w="0"/>
                <a:effectLst>
                  <a:outerShdw blurRad="38100" dist="19050" dir="2700000" algn="tl" rotWithShape="0">
                    <a:schemeClr val="dk1">
                      <a:alpha val="40000"/>
                    </a:schemeClr>
                  </a:outerShdw>
                </a:effectLst>
              </a:rPr>
              <a:t>Chose from Field List</a:t>
            </a:r>
          </a:p>
        </p:txBody>
      </p:sp>
    </p:spTree>
    <p:extLst>
      <p:ext uri="{BB962C8B-B14F-4D97-AF65-F5344CB8AC3E}">
        <p14:creationId xmlns:p14="http://schemas.microsoft.com/office/powerpoint/2010/main" val="4045339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11205" y="2134259"/>
            <a:ext cx="7438255" cy="2862322"/>
          </a:xfrm>
          <a:prstGeom prst="rect">
            <a:avLst/>
          </a:prstGeom>
          <a:noFill/>
        </p:spPr>
        <p:txBody>
          <a:bodyPr wrap="none" lIns="91440" tIns="45720" rIns="91440" bIns="45720">
            <a:spAutoFit/>
          </a:bodyPr>
          <a:lstStyle/>
          <a:p>
            <a:pPr algn="ctr"/>
            <a:r>
              <a:rPr lang="en-US" sz="6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Demo 3 B</a:t>
            </a:r>
            <a:endParaRPr lang="ar-EG" sz="6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a:p>
            <a:pPr algn="ctr"/>
            <a:r>
              <a:rPr lang="en-US" sz="6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Creating Dashboard </a:t>
            </a:r>
          </a:p>
          <a:p>
            <a:pPr algn="ctr"/>
            <a:r>
              <a:rPr lang="en-US" sz="6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using Pivot table</a:t>
            </a:r>
          </a:p>
        </p:txBody>
      </p:sp>
    </p:spTree>
    <p:extLst>
      <p:ext uri="{BB962C8B-B14F-4D97-AF65-F5344CB8AC3E}">
        <p14:creationId xmlns:p14="http://schemas.microsoft.com/office/powerpoint/2010/main" val="1108212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50689" y="3429000"/>
            <a:ext cx="1619014" cy="1619014"/>
          </a:xfrm>
          <a:prstGeom prst="rect">
            <a:avLst/>
          </a:prstGeom>
        </p:spPr>
      </p:pic>
      <p:sp>
        <p:nvSpPr>
          <p:cNvPr id="4" name="Rectangle 3"/>
          <p:cNvSpPr/>
          <p:nvPr/>
        </p:nvSpPr>
        <p:spPr>
          <a:xfrm>
            <a:off x="959591" y="319138"/>
            <a:ext cx="3456395" cy="584775"/>
          </a:xfrm>
          <a:prstGeom prst="rect">
            <a:avLst/>
          </a:prstGeom>
          <a:noFill/>
        </p:spPr>
        <p:txBody>
          <a:bodyPr wrap="none" lIns="91440" tIns="45720" rIns="91440" bIns="45720">
            <a:spAutoFit/>
          </a:bodyPr>
          <a:lstStyle/>
          <a:p>
            <a:pPr algn="ctr"/>
            <a:r>
              <a:rPr lang="en-US" sz="3200" dirty="0">
                <a:ln w="0"/>
                <a:effectLst>
                  <a:outerShdw blurRad="38100" dist="19050" dir="2700000" algn="tl" rotWithShape="0">
                    <a:schemeClr val="dk1">
                      <a:alpha val="40000"/>
                    </a:schemeClr>
                  </a:outerShdw>
                </a:effectLst>
              </a:rPr>
              <a:t>Create Dashboard</a:t>
            </a:r>
          </a:p>
        </p:txBody>
      </p:sp>
      <p:pic>
        <p:nvPicPr>
          <p:cNvPr id="5" name="Picture 4"/>
          <p:cNvPicPr>
            <a:picLocks noChangeAspect="1"/>
          </p:cNvPicPr>
          <p:nvPr/>
        </p:nvPicPr>
        <p:blipFill>
          <a:blip r:embed="rId3"/>
          <a:stretch>
            <a:fillRect/>
          </a:stretch>
        </p:blipFill>
        <p:spPr>
          <a:xfrm>
            <a:off x="959591" y="1217344"/>
            <a:ext cx="7591098" cy="3722791"/>
          </a:xfrm>
          <a:prstGeom prst="rect">
            <a:avLst/>
          </a:prstGeom>
        </p:spPr>
      </p:pic>
    </p:spTree>
    <p:extLst>
      <p:ext uri="{BB962C8B-B14F-4D97-AF65-F5344CB8AC3E}">
        <p14:creationId xmlns:p14="http://schemas.microsoft.com/office/powerpoint/2010/main" val="503102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74632" y="2228671"/>
            <a:ext cx="7283853" cy="1200329"/>
          </a:xfrm>
          <a:prstGeom prst="rect">
            <a:avLst/>
          </a:prstGeom>
          <a:noFill/>
        </p:spPr>
        <p:txBody>
          <a:bodyPr wrap="none" lIns="91440" tIns="45720" rIns="91440" bIns="45720">
            <a:spAutoFit/>
          </a:bodyPr>
          <a:lstStyle/>
          <a:p>
            <a:pPr algn="ctr"/>
            <a:r>
              <a:rPr lang="en-US" sz="7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Knowledge Checks</a:t>
            </a:r>
          </a:p>
        </p:txBody>
      </p:sp>
      <p:sp>
        <p:nvSpPr>
          <p:cNvPr id="3" name="Rectangle 2"/>
          <p:cNvSpPr/>
          <p:nvPr/>
        </p:nvSpPr>
        <p:spPr>
          <a:xfrm>
            <a:off x="4402361" y="3743333"/>
            <a:ext cx="1906291" cy="1200329"/>
          </a:xfrm>
          <a:prstGeom prst="rect">
            <a:avLst/>
          </a:prstGeom>
          <a:noFill/>
        </p:spPr>
        <p:txBody>
          <a:bodyPr wrap="none" lIns="91440" tIns="45720" rIns="91440" bIns="45720">
            <a:spAutoFit/>
          </a:bodyPr>
          <a:lstStyle/>
          <a:p>
            <a:r>
              <a:rPr lang="en-US" sz="7200" b="1" dirty="0"/>
              <a:t>Quiz</a:t>
            </a:r>
          </a:p>
        </p:txBody>
      </p:sp>
    </p:spTree>
    <p:extLst>
      <p:ext uri="{BB962C8B-B14F-4D97-AF65-F5344CB8AC3E}">
        <p14:creationId xmlns:p14="http://schemas.microsoft.com/office/powerpoint/2010/main" val="707818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1</a:t>
            </a:r>
          </a:p>
        </p:txBody>
      </p:sp>
      <p:sp>
        <p:nvSpPr>
          <p:cNvPr id="3" name="Rectangle 2"/>
          <p:cNvSpPr/>
          <p:nvPr/>
        </p:nvSpPr>
        <p:spPr>
          <a:xfrm>
            <a:off x="827313" y="1620618"/>
            <a:ext cx="9195462" cy="2308324"/>
          </a:xfrm>
          <a:prstGeom prst="rect">
            <a:avLst/>
          </a:prstGeom>
        </p:spPr>
        <p:txBody>
          <a:bodyPr wrap="square">
            <a:spAutoFit/>
          </a:bodyPr>
          <a:lstStyle/>
          <a:p>
            <a:r>
              <a:rPr lang="en-US" sz="2400" b="1" cap="all" dirty="0"/>
              <a:t>PROBLEM</a:t>
            </a:r>
          </a:p>
          <a:p>
            <a:pPr marL="457200" indent="-457200">
              <a:buFont typeface="Arial" panose="020B0604020202020204" pitchFamily="34" charset="0"/>
              <a:buChar char="•"/>
            </a:pPr>
            <a:r>
              <a:rPr lang="en-US" sz="2400" dirty="0"/>
              <a:t>You have the following Pivot Table fields. </a:t>
            </a:r>
          </a:p>
          <a:p>
            <a:pPr marL="457200" indent="-457200">
              <a:buFont typeface="Arial" panose="020B0604020202020204" pitchFamily="34" charset="0"/>
              <a:buChar char="•"/>
            </a:pPr>
            <a:r>
              <a:rPr lang="en-US" sz="2400" dirty="0"/>
              <a:t>You need to calculate the number of sales by age.</a:t>
            </a:r>
          </a:p>
          <a:p>
            <a:pPr marL="457200" indent="-457200">
              <a:buFont typeface="Arial" panose="020B0604020202020204" pitchFamily="34" charset="0"/>
              <a:buChar char="•"/>
            </a:pPr>
            <a:r>
              <a:rPr lang="en-US" sz="2400" dirty="0"/>
              <a:t>Drag the appropriate field names and aggregated field names to the appropriate Pivot Table Areas (Filters, Rows, Columns, or Values) to perform the task</a:t>
            </a:r>
          </a:p>
        </p:txBody>
      </p:sp>
      <p:pic>
        <p:nvPicPr>
          <p:cNvPr id="1027" name="DefaultOcx"/>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0314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3241593" cy="523220"/>
          </a:xfrm>
          <a:prstGeom prst="rect">
            <a:avLst/>
          </a:prstGeom>
        </p:spPr>
        <p:txBody>
          <a:bodyPr wrap="none">
            <a:spAutoFit/>
          </a:bodyPr>
          <a:lstStyle/>
          <a:p>
            <a:r>
              <a:rPr lang="en-US" sz="2800" b="1" i="0" u="sng" dirty="0">
                <a:solidFill>
                  <a:srgbClr val="C00000"/>
                </a:solidFill>
                <a:effectLst/>
                <a:latin typeface="Open Sans"/>
              </a:rPr>
              <a:t>Question 1 (cont</a:t>
            </a:r>
            <a:r>
              <a:rPr lang="en-US" sz="2800" b="1" u="sng" dirty="0">
                <a:solidFill>
                  <a:srgbClr val="C00000"/>
                </a:solidFill>
                <a:latin typeface="Open Sans"/>
              </a:rPr>
              <a:t>.)</a:t>
            </a:r>
            <a:endParaRPr lang="en-US" sz="2800" b="1" i="0" u="sng" dirty="0">
              <a:solidFill>
                <a:srgbClr val="C00000"/>
              </a:solidFill>
              <a:effectLst/>
              <a:latin typeface="Open Sans"/>
            </a:endParaRPr>
          </a:p>
        </p:txBody>
      </p:sp>
      <p:pic>
        <p:nvPicPr>
          <p:cNvPr id="1027" name="DefaultOcx"/>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stretch>
            <a:fillRect/>
          </a:stretch>
        </p:blipFill>
        <p:spPr>
          <a:xfrm>
            <a:off x="4281611" y="304800"/>
            <a:ext cx="5919293" cy="6475942"/>
          </a:xfrm>
          <a:prstGeom prst="rect">
            <a:avLst/>
          </a:prstGeom>
        </p:spPr>
      </p:pic>
      <p:pic>
        <p:nvPicPr>
          <p:cNvPr id="5" name="Picture 4"/>
          <p:cNvPicPr>
            <a:picLocks noChangeAspect="1"/>
          </p:cNvPicPr>
          <p:nvPr/>
        </p:nvPicPr>
        <p:blipFill>
          <a:blip r:embed="rId4"/>
          <a:stretch>
            <a:fillRect/>
          </a:stretch>
        </p:blipFill>
        <p:spPr>
          <a:xfrm>
            <a:off x="4206400" y="304800"/>
            <a:ext cx="6069713" cy="6577506"/>
          </a:xfrm>
          <a:prstGeom prst="rect">
            <a:avLst/>
          </a:prstGeom>
        </p:spPr>
      </p:pic>
    </p:spTree>
    <p:extLst>
      <p:ext uri="{BB962C8B-B14F-4D97-AF65-F5344CB8AC3E}">
        <p14:creationId xmlns:p14="http://schemas.microsoft.com/office/powerpoint/2010/main" val="2851824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2</a:t>
            </a:r>
          </a:p>
        </p:txBody>
      </p:sp>
      <p:sp>
        <p:nvSpPr>
          <p:cNvPr id="3" name="Rectangle 2"/>
          <p:cNvSpPr/>
          <p:nvPr/>
        </p:nvSpPr>
        <p:spPr>
          <a:xfrm>
            <a:off x="827313" y="1620618"/>
            <a:ext cx="9195462" cy="2677656"/>
          </a:xfrm>
          <a:prstGeom prst="rect">
            <a:avLst/>
          </a:prstGeom>
        </p:spPr>
        <p:txBody>
          <a:bodyPr wrap="square">
            <a:spAutoFit/>
          </a:bodyPr>
          <a:lstStyle/>
          <a:p>
            <a:r>
              <a:rPr lang="en-US" sz="2400" b="1" cap="all" dirty="0"/>
              <a:t>PROBLEM</a:t>
            </a:r>
          </a:p>
          <a:p>
            <a:pPr marL="457200" indent="-457200">
              <a:buFont typeface="Arial" panose="020B0604020202020204" pitchFamily="34" charset="0"/>
              <a:buChar char="•"/>
            </a:pPr>
            <a:r>
              <a:rPr lang="en-US" sz="2400" dirty="0"/>
              <a:t>You have the following Pivot Table fields. </a:t>
            </a:r>
          </a:p>
          <a:p>
            <a:pPr marL="457200" indent="-457200">
              <a:buFont typeface="Arial" panose="020B0604020202020204" pitchFamily="34" charset="0"/>
              <a:buChar char="•"/>
            </a:pPr>
            <a:r>
              <a:rPr lang="en-US" sz="2400" dirty="0"/>
              <a:t>Your manager asks you to build a pivot table that shows revenue by state and country. </a:t>
            </a:r>
          </a:p>
          <a:p>
            <a:pPr marL="457200" indent="-457200">
              <a:buFont typeface="Arial" panose="020B0604020202020204" pitchFamily="34" charset="0"/>
              <a:buChar char="•"/>
            </a:pPr>
            <a:r>
              <a:rPr lang="en-US" sz="2400" dirty="0"/>
              <a:t>How would you arrange the field names and aggregated field names to the appropriate Pivot Table Areas (Filters, Rows, Columns, or Values)?</a:t>
            </a:r>
          </a:p>
        </p:txBody>
      </p:sp>
      <p:pic>
        <p:nvPicPr>
          <p:cNvPr id="1027" name="DefaultOcx"/>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4577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3241593" cy="523220"/>
          </a:xfrm>
          <a:prstGeom prst="rect">
            <a:avLst/>
          </a:prstGeom>
        </p:spPr>
        <p:txBody>
          <a:bodyPr wrap="none">
            <a:spAutoFit/>
          </a:bodyPr>
          <a:lstStyle/>
          <a:p>
            <a:r>
              <a:rPr lang="en-US" sz="2800" b="1" i="0" u="sng" dirty="0">
                <a:solidFill>
                  <a:srgbClr val="C00000"/>
                </a:solidFill>
                <a:effectLst/>
                <a:latin typeface="Open Sans"/>
              </a:rPr>
              <a:t>Question </a:t>
            </a:r>
            <a:r>
              <a:rPr lang="en-US" sz="2800" b="1" u="sng" dirty="0">
                <a:solidFill>
                  <a:srgbClr val="C00000"/>
                </a:solidFill>
                <a:latin typeface="Open Sans"/>
              </a:rPr>
              <a:t>2 </a:t>
            </a:r>
            <a:r>
              <a:rPr lang="en-US" sz="2800" b="1" i="0" u="sng" dirty="0">
                <a:solidFill>
                  <a:srgbClr val="C00000"/>
                </a:solidFill>
                <a:effectLst/>
                <a:latin typeface="Open Sans"/>
              </a:rPr>
              <a:t>(cont</a:t>
            </a:r>
            <a:r>
              <a:rPr lang="en-US" sz="2800" b="1" u="sng" dirty="0">
                <a:solidFill>
                  <a:srgbClr val="C00000"/>
                </a:solidFill>
                <a:latin typeface="Open Sans"/>
              </a:rPr>
              <a:t>.)</a:t>
            </a:r>
            <a:endParaRPr lang="en-US" sz="2800" b="1" i="0" u="sng" dirty="0">
              <a:solidFill>
                <a:srgbClr val="C00000"/>
              </a:solidFill>
              <a:effectLst/>
              <a:latin typeface="Open Sans"/>
            </a:endParaRPr>
          </a:p>
        </p:txBody>
      </p:sp>
      <p:pic>
        <p:nvPicPr>
          <p:cNvPr id="1027" name="DefaultOcx"/>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p:cNvPicPr>
          <p:nvPr/>
        </p:nvPicPr>
        <p:blipFill>
          <a:blip r:embed="rId3"/>
          <a:stretch>
            <a:fillRect/>
          </a:stretch>
        </p:blipFill>
        <p:spPr>
          <a:xfrm>
            <a:off x="4037240" y="95992"/>
            <a:ext cx="5965521" cy="6762008"/>
          </a:xfrm>
          <a:prstGeom prst="rect">
            <a:avLst/>
          </a:prstGeom>
        </p:spPr>
      </p:pic>
      <p:pic>
        <p:nvPicPr>
          <p:cNvPr id="6" name="Picture 5"/>
          <p:cNvPicPr>
            <a:picLocks noChangeAspect="1"/>
          </p:cNvPicPr>
          <p:nvPr/>
        </p:nvPicPr>
        <p:blipFill>
          <a:blip r:embed="rId4"/>
          <a:stretch>
            <a:fillRect/>
          </a:stretch>
        </p:blipFill>
        <p:spPr>
          <a:xfrm>
            <a:off x="4037240" y="95992"/>
            <a:ext cx="6173051" cy="6720134"/>
          </a:xfrm>
          <a:prstGeom prst="rect">
            <a:avLst/>
          </a:prstGeom>
        </p:spPr>
      </p:pic>
    </p:spTree>
    <p:extLst>
      <p:ext uri="{BB962C8B-B14F-4D97-AF65-F5344CB8AC3E}">
        <p14:creationId xmlns:p14="http://schemas.microsoft.com/office/powerpoint/2010/main" val="2040988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3</a:t>
            </a:r>
          </a:p>
        </p:txBody>
      </p:sp>
      <p:sp>
        <p:nvSpPr>
          <p:cNvPr id="3" name="Rectangle 2"/>
          <p:cNvSpPr/>
          <p:nvPr/>
        </p:nvSpPr>
        <p:spPr>
          <a:xfrm>
            <a:off x="403761" y="1099222"/>
            <a:ext cx="9405257" cy="1200329"/>
          </a:xfrm>
          <a:prstGeom prst="rect">
            <a:avLst/>
          </a:prstGeom>
        </p:spPr>
        <p:txBody>
          <a:bodyPr wrap="square">
            <a:spAutoFit/>
          </a:bodyPr>
          <a:lstStyle/>
          <a:p>
            <a:r>
              <a:rPr lang="en-US" sz="2400" dirty="0"/>
              <a:t>You have a pivot that is based on an Excel table. You need to add new rows to the Excel table and want to be able to see the values for these new rows in the PivotTable. What should you do?</a:t>
            </a:r>
          </a:p>
        </p:txBody>
      </p:sp>
      <p:sp>
        <p:nvSpPr>
          <p:cNvPr id="9" name="Rectangle 8"/>
          <p:cNvSpPr/>
          <p:nvPr/>
        </p:nvSpPr>
        <p:spPr>
          <a:xfrm>
            <a:off x="645346" y="2660134"/>
            <a:ext cx="8118644" cy="3170099"/>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B0F0"/>
                </a:solidFill>
                <a:latin typeface="Open Sans"/>
              </a:rPr>
              <a:t>Create a new pivot table.</a:t>
            </a:r>
          </a:p>
          <a:p>
            <a:endParaRPr lang="en-US" sz="2000" dirty="0">
              <a:solidFill>
                <a:srgbClr val="00B0F0"/>
              </a:solidFill>
              <a:latin typeface="Open Sans"/>
            </a:endParaRPr>
          </a:p>
          <a:p>
            <a:pPr marL="285750" indent="-285750">
              <a:buFont typeface="Arial" panose="020B0604020202020204" pitchFamily="34" charset="0"/>
              <a:buChar char="•"/>
            </a:pPr>
            <a:r>
              <a:rPr lang="en-US" sz="2000" dirty="0">
                <a:solidFill>
                  <a:srgbClr val="00B0F0"/>
                </a:solidFill>
              </a:rPr>
              <a:t>Add rows anywhere in the table, and it will automatically update the pivot to include the new values.</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Add rows anywhere in the table, and refresh the pivot table.</a:t>
            </a:r>
          </a:p>
          <a:p>
            <a:pPr marL="285750" indent="-285750">
              <a:buFont typeface="Arial" panose="020B0604020202020204" pitchFamily="34" charset="0"/>
              <a:buChar char="•"/>
            </a:pPr>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You must add the new rows only after the last row and refresh the pivot table..</a:t>
            </a:r>
          </a:p>
          <a:p>
            <a:pPr marL="285750" indent="-285750">
              <a:buFont typeface="Arial" panose="020B0604020202020204" pitchFamily="34" charset="0"/>
              <a:buChar char="•"/>
            </a:pPr>
            <a:endParaRPr lang="en-US" sz="2000" dirty="0">
              <a:solidFill>
                <a:srgbClr val="00B0F0"/>
              </a:solidFill>
            </a:endParaRPr>
          </a:p>
        </p:txBody>
      </p:sp>
      <p:pic>
        <p:nvPicPr>
          <p:cNvPr id="11" name="Picture 10"/>
          <p:cNvPicPr>
            <a:picLocks noChangeAspect="1"/>
          </p:cNvPicPr>
          <p:nvPr/>
        </p:nvPicPr>
        <p:blipFill>
          <a:blip r:embed="rId2"/>
          <a:stretch>
            <a:fillRect/>
          </a:stretch>
        </p:blipFill>
        <p:spPr>
          <a:xfrm>
            <a:off x="8060377" y="3977111"/>
            <a:ext cx="703613" cy="751587"/>
          </a:xfrm>
          <a:prstGeom prst="rect">
            <a:avLst/>
          </a:prstGeom>
        </p:spPr>
      </p:pic>
      <p:sp>
        <p:nvSpPr>
          <p:cNvPr id="14" name="Rectangle 13"/>
          <p:cNvSpPr/>
          <p:nvPr/>
        </p:nvSpPr>
        <p:spPr>
          <a:xfrm>
            <a:off x="6255945" y="5445510"/>
            <a:ext cx="5778369" cy="1200329"/>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r>
              <a:rPr lang="en-US" b="1" i="0" u="sng" dirty="0">
                <a:solidFill>
                  <a:srgbClr val="C00000"/>
                </a:solidFill>
                <a:effectLst/>
                <a:latin typeface="Open Sans"/>
              </a:rPr>
              <a:t>Explanation</a:t>
            </a:r>
          </a:p>
          <a:p>
            <a:r>
              <a:rPr lang="en-US" dirty="0">
                <a:solidFill>
                  <a:srgbClr val="222222"/>
                </a:solidFill>
                <a:latin typeface="Open Sans"/>
              </a:rPr>
              <a:t>Rows can be added to the table at any position. Refresh is required to include new/changed/deleted rows in the calculation of the pivot.</a:t>
            </a:r>
            <a:endParaRPr lang="en-US" b="0" i="0" dirty="0">
              <a:solidFill>
                <a:srgbClr val="222222"/>
              </a:solidFill>
              <a:effectLst/>
              <a:latin typeface="Open Sans"/>
            </a:endParaRPr>
          </a:p>
        </p:txBody>
      </p:sp>
      <p:pic>
        <p:nvPicPr>
          <p:cNvPr id="1027" name="DefaultOcx"/>
          <p:cNvPicPr preferRelativeResize="0">
            <a:picLocks noChangeArrowheads="1" noChangeShapeType="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9056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a:t>
            </a:r>
            <a:r>
              <a:rPr lang="en-US" sz="2800" b="1" u="sng" dirty="0">
                <a:solidFill>
                  <a:srgbClr val="C00000"/>
                </a:solidFill>
                <a:latin typeface="Open Sans"/>
              </a:rPr>
              <a:t>4</a:t>
            </a:r>
            <a:endParaRPr lang="en-US" sz="2800" b="1" i="0" u="sng" dirty="0">
              <a:solidFill>
                <a:srgbClr val="C00000"/>
              </a:solidFill>
              <a:effectLst/>
              <a:latin typeface="Open Sans"/>
            </a:endParaRPr>
          </a:p>
        </p:txBody>
      </p:sp>
      <p:sp>
        <p:nvSpPr>
          <p:cNvPr id="3" name="Rectangle 2"/>
          <p:cNvSpPr/>
          <p:nvPr/>
        </p:nvSpPr>
        <p:spPr>
          <a:xfrm>
            <a:off x="403761" y="1099222"/>
            <a:ext cx="9405257" cy="1569660"/>
          </a:xfrm>
          <a:prstGeom prst="rect">
            <a:avLst/>
          </a:prstGeom>
        </p:spPr>
        <p:txBody>
          <a:bodyPr wrap="square">
            <a:spAutoFit/>
          </a:bodyPr>
          <a:lstStyle/>
          <a:p>
            <a:r>
              <a:rPr lang="en-US" sz="2400" dirty="0"/>
              <a:t>Using the data provided, create a pivot with “Country “as rows, “Month” as columns, and “Revenue” as values. Drag “Years” to the filter area. What does the value 286,779 in the first summarized field of the pivot table (uppermost left value) represent?</a:t>
            </a:r>
          </a:p>
        </p:txBody>
      </p:sp>
      <p:sp>
        <p:nvSpPr>
          <p:cNvPr id="9" name="Rectangle 8"/>
          <p:cNvSpPr/>
          <p:nvPr/>
        </p:nvSpPr>
        <p:spPr>
          <a:xfrm>
            <a:off x="645346" y="2875575"/>
            <a:ext cx="8118644" cy="2246769"/>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B0F0"/>
                </a:solidFill>
                <a:latin typeface="Open Sans"/>
              </a:rPr>
              <a:t>The total for January in France for the first year (2015).</a:t>
            </a:r>
          </a:p>
          <a:p>
            <a:endParaRPr lang="en-US" sz="2000" dirty="0">
              <a:solidFill>
                <a:srgbClr val="00B0F0"/>
              </a:solidFill>
              <a:latin typeface="Open Sans"/>
            </a:endParaRPr>
          </a:p>
          <a:p>
            <a:pPr marL="285750" indent="-285750">
              <a:buFont typeface="Arial" panose="020B0604020202020204" pitchFamily="34" charset="0"/>
              <a:buChar char="•"/>
            </a:pPr>
            <a:r>
              <a:rPr lang="en-US" sz="2000" dirty="0">
                <a:solidFill>
                  <a:srgbClr val="00B0F0"/>
                </a:solidFill>
              </a:rPr>
              <a:t>he total for January in France for the last year (2016).</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The total for January in all countries.</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The aggregated value for January in France in 2015 and 2016.</a:t>
            </a:r>
          </a:p>
        </p:txBody>
      </p:sp>
      <p:pic>
        <p:nvPicPr>
          <p:cNvPr id="11" name="Picture 10"/>
          <p:cNvPicPr>
            <a:picLocks noChangeAspect="1"/>
          </p:cNvPicPr>
          <p:nvPr/>
        </p:nvPicPr>
        <p:blipFill>
          <a:blip r:embed="rId2"/>
          <a:stretch>
            <a:fillRect/>
          </a:stretch>
        </p:blipFill>
        <p:spPr>
          <a:xfrm>
            <a:off x="8060377" y="4370757"/>
            <a:ext cx="703613" cy="751587"/>
          </a:xfrm>
          <a:prstGeom prst="rect">
            <a:avLst/>
          </a:prstGeom>
        </p:spPr>
      </p:pic>
      <p:sp>
        <p:nvSpPr>
          <p:cNvPr id="14" name="Rectangle 13"/>
          <p:cNvSpPr/>
          <p:nvPr/>
        </p:nvSpPr>
        <p:spPr>
          <a:xfrm>
            <a:off x="6480620" y="5445510"/>
            <a:ext cx="5553694" cy="92333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r>
              <a:rPr lang="en-US" b="1" i="0" u="sng" dirty="0">
                <a:solidFill>
                  <a:srgbClr val="C00000"/>
                </a:solidFill>
                <a:effectLst/>
                <a:latin typeface="Open Sans"/>
              </a:rPr>
              <a:t>Explanation</a:t>
            </a:r>
          </a:p>
          <a:p>
            <a:r>
              <a:rPr lang="en-US" dirty="0">
                <a:solidFill>
                  <a:srgbClr val="222222"/>
                </a:solidFill>
                <a:latin typeface="Open Sans"/>
              </a:rPr>
              <a:t>Year is not included in the pivot so the value for January is an aggregation of all years.</a:t>
            </a:r>
            <a:endParaRPr lang="en-US" b="0" i="0" dirty="0">
              <a:solidFill>
                <a:srgbClr val="222222"/>
              </a:solidFill>
              <a:effectLst/>
              <a:latin typeface="Open Sans"/>
            </a:endParaRPr>
          </a:p>
        </p:txBody>
      </p:sp>
      <p:pic>
        <p:nvPicPr>
          <p:cNvPr id="1027" name="DefaultOcx"/>
          <p:cNvPicPr preferRelativeResize="0">
            <a:picLocks noChangeArrowheads="1" noChangeShapeType="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4513310" y="333171"/>
            <a:ext cx="7307889"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400" b="0" i="0" dirty="0">
                <a:solidFill>
                  <a:srgbClr val="C00000"/>
                </a:solidFill>
                <a:effectLst/>
                <a:latin typeface="Open Sans"/>
              </a:rPr>
              <a:t>Use Data in file  </a:t>
            </a:r>
            <a:r>
              <a:rPr lang="en-US" sz="2400" dirty="0"/>
              <a:t>SalesForCourse_quizz_table.xlsx</a:t>
            </a:r>
          </a:p>
        </p:txBody>
      </p:sp>
    </p:spTree>
    <p:extLst>
      <p:ext uri="{BB962C8B-B14F-4D97-AF65-F5344CB8AC3E}">
        <p14:creationId xmlns:p14="http://schemas.microsoft.com/office/powerpoint/2010/main" val="334131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4916731" cy="523220"/>
          </a:xfrm>
          <a:prstGeom prst="rect">
            <a:avLst/>
          </a:prstGeom>
        </p:spPr>
        <p:txBody>
          <a:bodyPr wrap="none">
            <a:spAutoFit/>
          </a:bodyPr>
          <a:lstStyle/>
          <a:p>
            <a:r>
              <a:rPr lang="en-US" sz="2800" b="1" i="0" u="sng" dirty="0">
                <a:solidFill>
                  <a:srgbClr val="C00000"/>
                </a:solidFill>
                <a:effectLst/>
                <a:latin typeface="Open Sans"/>
              </a:rPr>
              <a:t>Question 5…Numeric input </a:t>
            </a:r>
          </a:p>
        </p:txBody>
      </p:sp>
      <p:sp>
        <p:nvSpPr>
          <p:cNvPr id="3" name="Rectangle 2"/>
          <p:cNvSpPr/>
          <p:nvPr/>
        </p:nvSpPr>
        <p:spPr>
          <a:xfrm>
            <a:off x="645345" y="1055536"/>
            <a:ext cx="8494817" cy="830997"/>
          </a:xfrm>
          <a:prstGeom prst="rect">
            <a:avLst/>
          </a:prstGeom>
        </p:spPr>
        <p:txBody>
          <a:bodyPr wrap="square">
            <a:spAutoFit/>
          </a:bodyPr>
          <a:lstStyle/>
          <a:p>
            <a:r>
              <a:rPr lang="en-US" sz="2400" dirty="0"/>
              <a:t>Create a new PivotTable with “Customer Gender” as rows, “Product Category” as columns, and “Revenue” as values.</a:t>
            </a:r>
          </a:p>
        </p:txBody>
      </p:sp>
      <p:sp>
        <p:nvSpPr>
          <p:cNvPr id="9" name="Rectangle 8"/>
          <p:cNvSpPr/>
          <p:nvPr/>
        </p:nvSpPr>
        <p:spPr>
          <a:xfrm>
            <a:off x="791686" y="3467011"/>
            <a:ext cx="2662713"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4000" b="1" dirty="0">
                <a:solidFill>
                  <a:srgbClr val="C00000"/>
                </a:solidFill>
              </a:rPr>
              <a:t>5728781</a:t>
            </a:r>
          </a:p>
        </p:txBody>
      </p:sp>
      <p:sp>
        <p:nvSpPr>
          <p:cNvPr id="5" name="Rectangle 4"/>
          <p:cNvSpPr/>
          <p:nvPr/>
        </p:nvSpPr>
        <p:spPr>
          <a:xfrm>
            <a:off x="645345" y="4392404"/>
            <a:ext cx="8494817" cy="1200329"/>
          </a:xfrm>
          <a:prstGeom prst="rect">
            <a:avLst/>
          </a:prstGeom>
        </p:spPr>
        <p:txBody>
          <a:bodyPr wrap="square">
            <a:spAutoFit/>
          </a:bodyPr>
          <a:lstStyle/>
          <a:p>
            <a:r>
              <a:rPr lang="en-US" sz="2400" dirty="0"/>
              <a:t>b. How much revenue was raised through clothing purchased by men? Provide a whole number without currency symbols or decimal places.</a:t>
            </a:r>
          </a:p>
        </p:txBody>
      </p:sp>
      <p:sp>
        <p:nvSpPr>
          <p:cNvPr id="12" name="Rectangle 11"/>
          <p:cNvSpPr/>
          <p:nvPr/>
        </p:nvSpPr>
        <p:spPr>
          <a:xfrm>
            <a:off x="645345" y="5810240"/>
            <a:ext cx="3200939"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4000" b="1" dirty="0">
                <a:solidFill>
                  <a:srgbClr val="C00000"/>
                </a:solidFill>
              </a:rPr>
              <a:t>1817262</a:t>
            </a:r>
          </a:p>
        </p:txBody>
      </p:sp>
      <p:sp>
        <p:nvSpPr>
          <p:cNvPr id="4" name="Rectangle 3"/>
          <p:cNvSpPr/>
          <p:nvPr/>
        </p:nvSpPr>
        <p:spPr>
          <a:xfrm>
            <a:off x="791687" y="2049175"/>
            <a:ext cx="8542317" cy="1200329"/>
          </a:xfrm>
          <a:prstGeom prst="rect">
            <a:avLst/>
          </a:prstGeom>
        </p:spPr>
        <p:txBody>
          <a:bodyPr wrap="square">
            <a:spAutoFit/>
          </a:bodyPr>
          <a:lstStyle/>
          <a:p>
            <a:r>
              <a:rPr lang="en-US" sz="2400" dirty="0"/>
              <a:t>a. How much revenue was raised through the purchase of bikes by women? Provide a whole number without currency symbols or decimal places.</a:t>
            </a:r>
          </a:p>
        </p:txBody>
      </p:sp>
    </p:spTree>
    <p:extLst>
      <p:ext uri="{BB962C8B-B14F-4D97-AF65-F5344CB8AC3E}">
        <p14:creationId xmlns:p14="http://schemas.microsoft.com/office/powerpoint/2010/main" val="4242897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animBg="1"/>
      <p:bldP spid="5" grpId="0"/>
      <p:bldP spid="12" grpId="0" animBg="1"/>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a:t>
            </a:r>
            <a:r>
              <a:rPr lang="en-US" sz="2800" b="1" u="sng" dirty="0">
                <a:solidFill>
                  <a:srgbClr val="C00000"/>
                </a:solidFill>
                <a:latin typeface="Open Sans"/>
              </a:rPr>
              <a:t>6</a:t>
            </a:r>
            <a:endParaRPr lang="en-US" sz="2800" b="1" i="0" u="sng" dirty="0">
              <a:solidFill>
                <a:srgbClr val="C00000"/>
              </a:solidFill>
              <a:effectLst/>
              <a:latin typeface="Open Sans"/>
            </a:endParaRPr>
          </a:p>
        </p:txBody>
      </p:sp>
      <p:sp>
        <p:nvSpPr>
          <p:cNvPr id="3" name="Rectangle 2"/>
          <p:cNvSpPr/>
          <p:nvPr/>
        </p:nvSpPr>
        <p:spPr>
          <a:xfrm>
            <a:off x="403761" y="1099222"/>
            <a:ext cx="10772239" cy="4154984"/>
          </a:xfrm>
          <a:prstGeom prst="rect">
            <a:avLst/>
          </a:prstGeom>
        </p:spPr>
        <p:txBody>
          <a:bodyPr wrap="square">
            <a:spAutoFit/>
          </a:bodyPr>
          <a:lstStyle/>
          <a:p>
            <a:pPr marL="342900" indent="-342900">
              <a:buFont typeface="Arial" panose="020B0604020202020204" pitchFamily="34" charset="0"/>
              <a:buChar char="•"/>
            </a:pPr>
            <a:r>
              <a:rPr lang="en-US" sz="2400" dirty="0"/>
              <a:t>When you summarize data using an Excel Pivot Table, each number found in a Pivot Table cell represents one or more records in the pivot table’s source data and is directly related to the Column and Row fields you used in the Pivot Table. </a:t>
            </a:r>
          </a:p>
          <a:p>
            <a:endParaRPr lang="en-US" sz="2400" dirty="0"/>
          </a:p>
          <a:p>
            <a:pPr marL="342900" indent="-342900">
              <a:buFont typeface="Arial" panose="020B0604020202020204" pitchFamily="34" charset="0"/>
              <a:buChar char="•"/>
            </a:pPr>
            <a:r>
              <a:rPr lang="en-US" sz="2400" dirty="0"/>
              <a:t>A quick way to review this underlying set of records is to use the Show Details feature - right click within the desired cell and select Show Details from the menu options. </a:t>
            </a:r>
          </a:p>
          <a:p>
            <a:endParaRPr lang="en-US" sz="2400" dirty="0"/>
          </a:p>
          <a:p>
            <a:pPr marL="342900" indent="-342900">
              <a:buFont typeface="Arial" panose="020B0604020202020204" pitchFamily="34" charset="0"/>
              <a:buChar char="•"/>
            </a:pPr>
            <a:r>
              <a:rPr lang="en-US" sz="2400" dirty="0"/>
              <a:t>This is commonly called </a:t>
            </a:r>
            <a:r>
              <a:rPr lang="en-US" sz="2400" u="sng" dirty="0">
                <a:solidFill>
                  <a:srgbClr val="C00000"/>
                </a:solidFill>
              </a:rPr>
              <a:t>Drilling down into the data </a:t>
            </a:r>
            <a:r>
              <a:rPr lang="en-US" sz="2400" dirty="0"/>
              <a:t>and can also be achieved by double-clicking in the cell in question</a:t>
            </a:r>
          </a:p>
        </p:txBody>
      </p:sp>
      <p:pic>
        <p:nvPicPr>
          <p:cNvPr id="1027" name="DefaultOcx"/>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823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3300904" cy="523220"/>
          </a:xfrm>
          <a:prstGeom prst="rect">
            <a:avLst/>
          </a:prstGeom>
        </p:spPr>
        <p:txBody>
          <a:bodyPr wrap="none">
            <a:spAutoFit/>
          </a:bodyPr>
          <a:lstStyle/>
          <a:p>
            <a:r>
              <a:rPr lang="en-US" sz="2800" b="1" i="0" u="sng" dirty="0">
                <a:solidFill>
                  <a:srgbClr val="C00000"/>
                </a:solidFill>
                <a:effectLst/>
                <a:latin typeface="Open Sans"/>
              </a:rPr>
              <a:t>Question </a:t>
            </a:r>
            <a:r>
              <a:rPr lang="en-US" sz="2800" b="1" u="sng" dirty="0">
                <a:solidFill>
                  <a:srgbClr val="C00000"/>
                </a:solidFill>
                <a:latin typeface="Open Sans"/>
              </a:rPr>
              <a:t>6 (Cont.)</a:t>
            </a:r>
            <a:endParaRPr lang="en-US" sz="2800" b="1" i="0" u="sng" dirty="0">
              <a:solidFill>
                <a:srgbClr val="C00000"/>
              </a:solidFill>
              <a:effectLst/>
              <a:latin typeface="Open Sans"/>
            </a:endParaRPr>
          </a:p>
        </p:txBody>
      </p:sp>
      <p:pic>
        <p:nvPicPr>
          <p:cNvPr id="1027" name="DefaultOcx"/>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85800" y="1552329"/>
            <a:ext cx="10225854" cy="1200329"/>
          </a:xfrm>
          <a:prstGeom prst="rect">
            <a:avLst/>
          </a:prstGeom>
        </p:spPr>
        <p:txBody>
          <a:bodyPr wrap="square">
            <a:spAutoFit/>
          </a:bodyPr>
          <a:lstStyle/>
          <a:p>
            <a:r>
              <a:rPr lang="en-US" sz="2400" dirty="0"/>
              <a:t>Create a new PivotTable with “Country” as rows, “Product Category” as columns, “Year” as a filter, and “Revenue” as values. Filter by year 2015.</a:t>
            </a:r>
          </a:p>
        </p:txBody>
      </p:sp>
    </p:spTree>
    <p:extLst>
      <p:ext uri="{BB962C8B-B14F-4D97-AF65-F5344CB8AC3E}">
        <p14:creationId xmlns:p14="http://schemas.microsoft.com/office/powerpoint/2010/main" val="1198693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3300904" cy="523220"/>
          </a:xfrm>
          <a:prstGeom prst="rect">
            <a:avLst/>
          </a:prstGeom>
        </p:spPr>
        <p:txBody>
          <a:bodyPr wrap="none">
            <a:spAutoFit/>
          </a:bodyPr>
          <a:lstStyle/>
          <a:p>
            <a:r>
              <a:rPr lang="en-US" sz="2800" b="1" i="0" u="sng" dirty="0">
                <a:solidFill>
                  <a:srgbClr val="C00000"/>
                </a:solidFill>
                <a:effectLst/>
                <a:latin typeface="Open Sans"/>
              </a:rPr>
              <a:t>Question </a:t>
            </a:r>
            <a:r>
              <a:rPr lang="en-US" sz="2800" b="1" u="sng" dirty="0">
                <a:solidFill>
                  <a:srgbClr val="C00000"/>
                </a:solidFill>
                <a:latin typeface="Open Sans"/>
              </a:rPr>
              <a:t>6 (Cont.)</a:t>
            </a:r>
            <a:endParaRPr lang="en-US" sz="2800" b="1" i="0" u="sng" dirty="0">
              <a:solidFill>
                <a:srgbClr val="C00000"/>
              </a:solidFill>
              <a:effectLst/>
              <a:latin typeface="Open Sans"/>
            </a:endParaRPr>
          </a:p>
        </p:txBody>
      </p:sp>
      <p:sp>
        <p:nvSpPr>
          <p:cNvPr id="3" name="Rectangle 2"/>
          <p:cNvSpPr/>
          <p:nvPr/>
        </p:nvSpPr>
        <p:spPr>
          <a:xfrm>
            <a:off x="403761" y="1099222"/>
            <a:ext cx="9405257" cy="1200329"/>
          </a:xfrm>
          <a:prstGeom prst="rect">
            <a:avLst/>
          </a:prstGeom>
        </p:spPr>
        <p:txBody>
          <a:bodyPr wrap="square">
            <a:spAutoFit/>
          </a:bodyPr>
          <a:lstStyle/>
          <a:p>
            <a:r>
              <a:rPr lang="en-US" sz="2400" dirty="0"/>
              <a:t>Drill down into the data for the cell that represents the revenue for bike sales in Germany, 2015. A new worksheet is created with a table in it. What is the content of this table?</a:t>
            </a:r>
          </a:p>
        </p:txBody>
      </p:sp>
      <p:sp>
        <p:nvSpPr>
          <p:cNvPr id="9" name="Rectangle 8"/>
          <p:cNvSpPr/>
          <p:nvPr/>
        </p:nvSpPr>
        <p:spPr>
          <a:xfrm>
            <a:off x="645346" y="2660134"/>
            <a:ext cx="8118644" cy="3170099"/>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B0F0"/>
                </a:solidFill>
                <a:latin typeface="Open Sans"/>
              </a:rPr>
              <a:t>The table shows columns for Year, Country, Revenue, and Products</a:t>
            </a:r>
          </a:p>
          <a:p>
            <a:endParaRPr lang="en-US" sz="2000" dirty="0">
              <a:solidFill>
                <a:srgbClr val="00B0F0"/>
              </a:solidFill>
              <a:latin typeface="Open Sans"/>
            </a:endParaRPr>
          </a:p>
          <a:p>
            <a:pPr marL="285750" indent="-285750">
              <a:buFont typeface="Arial" panose="020B0604020202020204" pitchFamily="34" charset="0"/>
              <a:buChar char="•"/>
            </a:pPr>
            <a:r>
              <a:rPr lang="en-US" sz="2000" dirty="0">
                <a:solidFill>
                  <a:srgbClr val="00B0F0"/>
                </a:solidFill>
              </a:rPr>
              <a:t>The table contains all rows in </a:t>
            </a:r>
            <a:r>
              <a:rPr lang="en-US" sz="2000" dirty="0" err="1">
                <a:solidFill>
                  <a:srgbClr val="00B0F0"/>
                </a:solidFill>
              </a:rPr>
              <a:t>SalesTable</a:t>
            </a:r>
            <a:r>
              <a:rPr lang="en-US" sz="2000" dirty="0">
                <a:solidFill>
                  <a:srgbClr val="00B0F0"/>
                </a:solidFill>
              </a:rPr>
              <a:t> corresponding to 2015, Bikes and Germany</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The table includes data from </a:t>
            </a:r>
            <a:r>
              <a:rPr lang="en-US" sz="2000" dirty="0" err="1">
                <a:solidFill>
                  <a:srgbClr val="00B0F0"/>
                </a:solidFill>
              </a:rPr>
              <a:t>SalesTable</a:t>
            </a:r>
            <a:r>
              <a:rPr lang="en-US" sz="2000" dirty="0">
                <a:solidFill>
                  <a:srgbClr val="00B0F0"/>
                </a:solidFill>
              </a:rPr>
              <a:t> for the first month of 2015 and the first subcategory of Bikes.</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The table includes data from </a:t>
            </a:r>
            <a:r>
              <a:rPr lang="en-US" sz="2000" dirty="0" err="1">
                <a:solidFill>
                  <a:srgbClr val="00B0F0"/>
                </a:solidFill>
              </a:rPr>
              <a:t>SalesTable</a:t>
            </a:r>
            <a:r>
              <a:rPr lang="en-US" sz="2000" dirty="0">
                <a:solidFill>
                  <a:srgbClr val="00B0F0"/>
                </a:solidFill>
              </a:rPr>
              <a:t> for 2015 and the first subcategory of Bikes.</a:t>
            </a:r>
          </a:p>
        </p:txBody>
      </p:sp>
      <p:pic>
        <p:nvPicPr>
          <p:cNvPr id="11" name="Picture 10"/>
          <p:cNvPicPr>
            <a:picLocks noChangeAspect="1"/>
          </p:cNvPicPr>
          <p:nvPr/>
        </p:nvPicPr>
        <p:blipFill>
          <a:blip r:embed="rId2"/>
          <a:stretch>
            <a:fillRect/>
          </a:stretch>
        </p:blipFill>
        <p:spPr>
          <a:xfrm>
            <a:off x="8292606" y="3193513"/>
            <a:ext cx="703613" cy="751587"/>
          </a:xfrm>
          <a:prstGeom prst="rect">
            <a:avLst/>
          </a:prstGeom>
        </p:spPr>
      </p:pic>
      <p:sp>
        <p:nvSpPr>
          <p:cNvPr id="14" name="Rectangle 13"/>
          <p:cNvSpPr/>
          <p:nvPr/>
        </p:nvSpPr>
        <p:spPr>
          <a:xfrm>
            <a:off x="6638306" y="5590651"/>
            <a:ext cx="5553694" cy="1200329"/>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r>
              <a:rPr lang="en-US" b="1" i="0" u="sng" dirty="0">
                <a:solidFill>
                  <a:srgbClr val="C00000"/>
                </a:solidFill>
                <a:effectLst/>
                <a:latin typeface="Open Sans"/>
              </a:rPr>
              <a:t>Explanation</a:t>
            </a:r>
          </a:p>
          <a:p>
            <a:r>
              <a:rPr lang="en-US" dirty="0">
                <a:solidFill>
                  <a:srgbClr val="222222"/>
                </a:solidFill>
                <a:latin typeface="Open Sans"/>
              </a:rPr>
              <a:t>Double clicking a value in a PivotTable creates a new table that contains all rows used to calculate the selected value.</a:t>
            </a:r>
            <a:endParaRPr lang="en-US" b="0" i="0" dirty="0">
              <a:solidFill>
                <a:srgbClr val="222222"/>
              </a:solidFill>
              <a:effectLst/>
              <a:latin typeface="Open Sans"/>
            </a:endParaRPr>
          </a:p>
        </p:txBody>
      </p:sp>
      <p:pic>
        <p:nvPicPr>
          <p:cNvPr id="1027" name="DefaultOcx"/>
          <p:cNvPicPr preferRelativeResize="0">
            <a:picLocks noChangeArrowheads="1" noChangeShapeType="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54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4916731" cy="523220"/>
          </a:xfrm>
          <a:prstGeom prst="rect">
            <a:avLst/>
          </a:prstGeom>
        </p:spPr>
        <p:txBody>
          <a:bodyPr wrap="none">
            <a:spAutoFit/>
          </a:bodyPr>
          <a:lstStyle/>
          <a:p>
            <a:r>
              <a:rPr lang="en-US" sz="2800" b="1" i="0" u="sng" dirty="0">
                <a:solidFill>
                  <a:srgbClr val="C00000"/>
                </a:solidFill>
                <a:effectLst/>
                <a:latin typeface="Open Sans"/>
              </a:rPr>
              <a:t>Question 7…Numeric input </a:t>
            </a:r>
          </a:p>
        </p:txBody>
      </p:sp>
      <p:sp>
        <p:nvSpPr>
          <p:cNvPr id="3" name="Rectangle 2"/>
          <p:cNvSpPr/>
          <p:nvPr/>
        </p:nvSpPr>
        <p:spPr>
          <a:xfrm>
            <a:off x="791686" y="1003789"/>
            <a:ext cx="11009626" cy="1200329"/>
          </a:xfrm>
          <a:prstGeom prst="rect">
            <a:avLst/>
          </a:prstGeom>
        </p:spPr>
        <p:txBody>
          <a:bodyPr wrap="square">
            <a:spAutoFit/>
          </a:bodyPr>
          <a:lstStyle/>
          <a:p>
            <a:r>
              <a:rPr lang="en-US" sz="2400" dirty="0"/>
              <a:t>Calculate the answers to the following questions using the data provided and PivotTables. All answers should be provided in whole numbers, without currency symbols or decimals</a:t>
            </a:r>
          </a:p>
        </p:txBody>
      </p:sp>
      <p:sp>
        <p:nvSpPr>
          <p:cNvPr id="9" name="Rectangle 8"/>
          <p:cNvSpPr/>
          <p:nvPr/>
        </p:nvSpPr>
        <p:spPr>
          <a:xfrm>
            <a:off x="791686" y="3693004"/>
            <a:ext cx="2662713"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4000" b="1" dirty="0">
                <a:solidFill>
                  <a:srgbClr val="C00000"/>
                </a:solidFill>
              </a:rPr>
              <a:t>2257187</a:t>
            </a:r>
          </a:p>
        </p:txBody>
      </p:sp>
      <p:sp>
        <p:nvSpPr>
          <p:cNvPr id="5" name="Rectangle 4"/>
          <p:cNvSpPr/>
          <p:nvPr/>
        </p:nvSpPr>
        <p:spPr>
          <a:xfrm>
            <a:off x="529231" y="5110082"/>
            <a:ext cx="8494817" cy="461665"/>
          </a:xfrm>
          <a:prstGeom prst="rect">
            <a:avLst/>
          </a:prstGeom>
        </p:spPr>
        <p:txBody>
          <a:bodyPr wrap="square">
            <a:spAutoFit/>
          </a:bodyPr>
          <a:lstStyle/>
          <a:p>
            <a:r>
              <a:rPr lang="en-US" sz="2400" dirty="0"/>
              <a:t>b. Number of sales transactions for bikes in the US in 2016:</a:t>
            </a:r>
          </a:p>
        </p:txBody>
      </p:sp>
      <p:sp>
        <p:nvSpPr>
          <p:cNvPr id="12" name="Rectangle 11"/>
          <p:cNvSpPr/>
          <p:nvPr/>
        </p:nvSpPr>
        <p:spPr>
          <a:xfrm>
            <a:off x="645345" y="5926996"/>
            <a:ext cx="3200939"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4000" b="1" dirty="0">
                <a:solidFill>
                  <a:srgbClr val="C00000"/>
                </a:solidFill>
              </a:rPr>
              <a:t>1415</a:t>
            </a:r>
          </a:p>
        </p:txBody>
      </p:sp>
      <p:sp>
        <p:nvSpPr>
          <p:cNvPr id="4" name="Rectangle 3"/>
          <p:cNvSpPr/>
          <p:nvPr/>
        </p:nvSpPr>
        <p:spPr>
          <a:xfrm>
            <a:off x="645345" y="2602929"/>
            <a:ext cx="8542317" cy="830997"/>
          </a:xfrm>
          <a:prstGeom prst="rect">
            <a:avLst/>
          </a:prstGeom>
        </p:spPr>
        <p:txBody>
          <a:bodyPr wrap="square">
            <a:spAutoFit/>
          </a:bodyPr>
          <a:lstStyle/>
          <a:p>
            <a:r>
              <a:rPr lang="en-US" sz="2400" dirty="0"/>
              <a:t>a. Total revenue for sales of bikes in the country that sold the most in 2016:</a:t>
            </a:r>
          </a:p>
        </p:txBody>
      </p:sp>
    </p:spTree>
    <p:extLst>
      <p:ext uri="{BB962C8B-B14F-4D97-AF65-F5344CB8AC3E}">
        <p14:creationId xmlns:p14="http://schemas.microsoft.com/office/powerpoint/2010/main" val="2105500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animBg="1"/>
      <p:bldP spid="5" grpId="0"/>
      <p:bldP spid="12" grpId="0" animBg="1"/>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6115777" cy="523220"/>
          </a:xfrm>
          <a:prstGeom prst="rect">
            <a:avLst/>
          </a:prstGeom>
        </p:spPr>
        <p:txBody>
          <a:bodyPr wrap="none">
            <a:spAutoFit/>
          </a:bodyPr>
          <a:lstStyle/>
          <a:p>
            <a:r>
              <a:rPr lang="en-US" sz="2800" b="1" i="0" u="sng" dirty="0">
                <a:solidFill>
                  <a:srgbClr val="C00000"/>
                </a:solidFill>
                <a:effectLst/>
                <a:latin typeface="Open Sans"/>
              </a:rPr>
              <a:t>Question 7…Numeric input (cont.) </a:t>
            </a:r>
          </a:p>
        </p:txBody>
      </p:sp>
      <p:sp>
        <p:nvSpPr>
          <p:cNvPr id="9" name="Rectangle 8"/>
          <p:cNvSpPr/>
          <p:nvPr/>
        </p:nvSpPr>
        <p:spPr>
          <a:xfrm>
            <a:off x="791687" y="2607431"/>
            <a:ext cx="2662713"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4000" b="1" dirty="0">
                <a:solidFill>
                  <a:srgbClr val="C00000"/>
                </a:solidFill>
              </a:rPr>
              <a:t>2</a:t>
            </a:r>
          </a:p>
        </p:txBody>
      </p:sp>
      <p:sp>
        <p:nvSpPr>
          <p:cNvPr id="5" name="Rectangle 4"/>
          <p:cNvSpPr/>
          <p:nvPr/>
        </p:nvSpPr>
        <p:spPr>
          <a:xfrm>
            <a:off x="1153345" y="4077759"/>
            <a:ext cx="9006655" cy="830997"/>
          </a:xfrm>
          <a:prstGeom prst="rect">
            <a:avLst/>
          </a:prstGeom>
        </p:spPr>
        <p:txBody>
          <a:bodyPr wrap="square">
            <a:spAutoFit/>
          </a:bodyPr>
          <a:lstStyle/>
          <a:p>
            <a:r>
              <a:rPr lang="en-US" sz="2400" dirty="0"/>
              <a:t>d. The largest revenue registered in a single transaction in the Germany during 2015:</a:t>
            </a:r>
          </a:p>
        </p:txBody>
      </p:sp>
      <p:sp>
        <p:nvSpPr>
          <p:cNvPr id="12" name="Rectangle 11"/>
          <p:cNvSpPr/>
          <p:nvPr/>
        </p:nvSpPr>
        <p:spPr>
          <a:xfrm>
            <a:off x="791687" y="5063152"/>
            <a:ext cx="3200939"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4000" b="1" dirty="0">
                <a:solidFill>
                  <a:srgbClr val="C00000"/>
                </a:solidFill>
              </a:rPr>
              <a:t>3089</a:t>
            </a:r>
          </a:p>
        </p:txBody>
      </p:sp>
      <p:sp>
        <p:nvSpPr>
          <p:cNvPr id="4" name="Rectangle 3"/>
          <p:cNvSpPr/>
          <p:nvPr/>
        </p:nvSpPr>
        <p:spPr>
          <a:xfrm>
            <a:off x="1153345" y="1579273"/>
            <a:ext cx="8542317" cy="830997"/>
          </a:xfrm>
          <a:prstGeom prst="rect">
            <a:avLst/>
          </a:prstGeom>
        </p:spPr>
        <p:txBody>
          <a:bodyPr wrap="square">
            <a:spAutoFit/>
          </a:bodyPr>
          <a:lstStyle/>
          <a:p>
            <a:r>
              <a:rPr lang="en-US" sz="2400" dirty="0"/>
              <a:t>c. Average number of clothing items purchased in the US during 2016 rounded to the nearest whole number:</a:t>
            </a:r>
          </a:p>
        </p:txBody>
      </p:sp>
    </p:spTree>
    <p:extLst>
      <p:ext uri="{BB962C8B-B14F-4D97-AF65-F5344CB8AC3E}">
        <p14:creationId xmlns:p14="http://schemas.microsoft.com/office/powerpoint/2010/main" val="1845417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p:bldP spid="12" grpId="0" animBg="1"/>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6115777" cy="523220"/>
          </a:xfrm>
          <a:prstGeom prst="rect">
            <a:avLst/>
          </a:prstGeom>
        </p:spPr>
        <p:txBody>
          <a:bodyPr wrap="none">
            <a:spAutoFit/>
          </a:bodyPr>
          <a:lstStyle/>
          <a:p>
            <a:r>
              <a:rPr lang="en-US" sz="2800" b="1" i="0" u="sng" dirty="0">
                <a:solidFill>
                  <a:srgbClr val="C00000"/>
                </a:solidFill>
                <a:effectLst/>
                <a:latin typeface="Open Sans"/>
              </a:rPr>
              <a:t>Question 7…Numeric input (cont.) </a:t>
            </a:r>
          </a:p>
        </p:txBody>
      </p:sp>
      <p:sp>
        <p:nvSpPr>
          <p:cNvPr id="9" name="Rectangle 8"/>
          <p:cNvSpPr/>
          <p:nvPr/>
        </p:nvSpPr>
        <p:spPr>
          <a:xfrm>
            <a:off x="791687" y="2694374"/>
            <a:ext cx="2662713"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4000" b="1" dirty="0">
                <a:solidFill>
                  <a:srgbClr val="C00000"/>
                </a:solidFill>
              </a:rPr>
              <a:t>3224</a:t>
            </a:r>
          </a:p>
        </p:txBody>
      </p:sp>
      <p:sp>
        <p:nvSpPr>
          <p:cNvPr id="4" name="Rectangle 3"/>
          <p:cNvSpPr/>
          <p:nvPr/>
        </p:nvSpPr>
        <p:spPr>
          <a:xfrm>
            <a:off x="1153345" y="1579273"/>
            <a:ext cx="8542317" cy="830997"/>
          </a:xfrm>
          <a:prstGeom prst="rect">
            <a:avLst/>
          </a:prstGeom>
        </p:spPr>
        <p:txBody>
          <a:bodyPr wrap="square">
            <a:spAutoFit/>
          </a:bodyPr>
          <a:lstStyle/>
          <a:p>
            <a:r>
              <a:rPr lang="en-US" sz="2400" dirty="0"/>
              <a:t>e. The largest revenue registered in a single transaction during 2015:</a:t>
            </a:r>
          </a:p>
        </p:txBody>
      </p:sp>
    </p:spTree>
    <p:extLst>
      <p:ext uri="{BB962C8B-B14F-4D97-AF65-F5344CB8AC3E}">
        <p14:creationId xmlns:p14="http://schemas.microsoft.com/office/powerpoint/2010/main" val="2977112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01328" y="2848582"/>
            <a:ext cx="2805576" cy="1323439"/>
          </a:xfrm>
          <a:prstGeom prst="rect">
            <a:avLst/>
          </a:prstGeom>
          <a:noFill/>
        </p:spPr>
        <p:txBody>
          <a:bodyPr wrap="none" lIns="91440" tIns="45720" rIns="91440" bIns="45720">
            <a:spAutoFit/>
          </a:bodyPr>
          <a:lstStyle/>
          <a:p>
            <a:pPr algn="ctr"/>
            <a:r>
              <a:rPr lang="en-US" sz="80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Lab 3</a:t>
            </a:r>
          </a:p>
        </p:txBody>
      </p:sp>
    </p:spTree>
    <p:extLst>
      <p:ext uri="{BB962C8B-B14F-4D97-AF65-F5344CB8AC3E}">
        <p14:creationId xmlns:p14="http://schemas.microsoft.com/office/powerpoint/2010/main" val="777824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133" y="489258"/>
            <a:ext cx="2329485" cy="769441"/>
          </a:xfrm>
          <a:prstGeom prst="rect">
            <a:avLst/>
          </a:prstGeom>
          <a:noFill/>
        </p:spPr>
        <p:txBody>
          <a:bodyPr wrap="none" lIns="91440" tIns="45720" rIns="91440" bIns="45720">
            <a:spAutoFit/>
          </a:bodyPr>
          <a:lstStyle/>
          <a:p>
            <a:pPr algn="ctr"/>
            <a:r>
              <a:rPr lang="en-US" sz="4400" dirty="0">
                <a:ln w="0"/>
                <a:solidFill>
                  <a:srgbClr val="00B050"/>
                </a:solidFill>
                <a:effectLst>
                  <a:outerShdw blurRad="38100" dist="25400" dir="5400000" algn="ctr" rotWithShape="0">
                    <a:srgbClr val="6E747A">
                      <a:alpha val="43000"/>
                    </a:srgbClr>
                  </a:outerShdw>
                </a:effectLst>
              </a:rPr>
              <a:t>Scenario</a:t>
            </a:r>
          </a:p>
        </p:txBody>
      </p:sp>
      <p:sp>
        <p:nvSpPr>
          <p:cNvPr id="3" name="Rectangle 2"/>
          <p:cNvSpPr/>
          <p:nvPr/>
        </p:nvSpPr>
        <p:spPr>
          <a:xfrm>
            <a:off x="803562" y="1403797"/>
            <a:ext cx="9456717" cy="872418"/>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Now that you have prepared the data in an Excel table, you can start to create pivot tables to aggregate the data and create some reports.</a:t>
            </a:r>
          </a:p>
        </p:txBody>
      </p:sp>
      <p:sp>
        <p:nvSpPr>
          <p:cNvPr id="5" name="Rectangle 4"/>
          <p:cNvSpPr/>
          <p:nvPr/>
        </p:nvSpPr>
        <p:spPr>
          <a:xfrm>
            <a:off x="6590805" y="489258"/>
            <a:ext cx="5170331"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400" b="0" i="0" dirty="0">
                <a:solidFill>
                  <a:srgbClr val="C00000"/>
                </a:solidFill>
                <a:effectLst/>
                <a:latin typeface="Open Sans"/>
              </a:rPr>
              <a:t>Use Data in file  </a:t>
            </a:r>
            <a:r>
              <a:rPr lang="en-US" sz="2400" dirty="0" err="1">
                <a:solidFill>
                  <a:srgbClr val="002060"/>
                </a:solidFill>
                <a:latin typeface="Open Sans"/>
              </a:rPr>
              <a:t>Lab3AStart.xlsx</a:t>
            </a:r>
            <a:r>
              <a:rPr lang="en-US" sz="2400" dirty="0">
                <a:solidFill>
                  <a:srgbClr val="002060"/>
                </a:solidFill>
                <a:latin typeface="Open Sans"/>
              </a:rPr>
              <a:t>.</a:t>
            </a:r>
            <a:endParaRPr lang="en-US" sz="2400" b="0" i="0" dirty="0">
              <a:solidFill>
                <a:srgbClr val="002060"/>
              </a:solidFill>
              <a:effectLst/>
              <a:latin typeface="Open Sans"/>
            </a:endParaRPr>
          </a:p>
        </p:txBody>
      </p:sp>
      <p:pic>
        <p:nvPicPr>
          <p:cNvPr id="1026" name="Picture 2" descr="https://d37djvu3ytnwxt.cloudfront.net/assets/courseware/v1/0f92cd9139031c503d1b6795473db21e/asset-v1:Microsoft+DAT205x+3T2016+type@asset+block/creating_repor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90805" y="3150743"/>
            <a:ext cx="4384221" cy="329714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82172" y="2996854"/>
            <a:ext cx="6096000"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From your conversation with Lucy, you know that she is interested in looking into the yearly sales data broken down by countries, product categories, and age groups.</a:t>
            </a:r>
          </a:p>
        </p:txBody>
      </p:sp>
    </p:spTree>
    <p:extLst>
      <p:ext uri="{BB962C8B-B14F-4D97-AF65-F5344CB8AC3E}">
        <p14:creationId xmlns:p14="http://schemas.microsoft.com/office/powerpoint/2010/main" val="208330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0711" y="1098741"/>
            <a:ext cx="8494816" cy="1287917"/>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First, let's start by naming the Excel table. Name the Excel table prepared in the previous lab to </a:t>
            </a:r>
            <a:r>
              <a:rPr lang="en-US" b="1" dirty="0" err="1"/>
              <a:t>SalesTable</a:t>
            </a:r>
            <a:r>
              <a:rPr lang="en-US" dirty="0"/>
              <a:t>. From now on, every time you add a pivot table, it should be based on this </a:t>
            </a:r>
            <a:r>
              <a:rPr lang="en-US" dirty="0" err="1"/>
              <a:t>SalesTable</a:t>
            </a:r>
            <a:r>
              <a:rPr lang="en-US" dirty="0"/>
              <a:t>, unless mentioned otherwise.</a:t>
            </a:r>
          </a:p>
        </p:txBody>
      </p:sp>
      <p:pic>
        <p:nvPicPr>
          <p:cNvPr id="6146" name="Picture 2" descr="https://d37djvu3ytnwxt.cloudfront.net/assets/courseware/v1/644968421ee57d22dd8a38576550fd15/asset-v1:Microsoft+DAT205x+3T2016+type@asset+block/jlm.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9089" y="2853067"/>
            <a:ext cx="4811828" cy="249082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08702" y="329300"/>
            <a:ext cx="1880643" cy="769441"/>
          </a:xfrm>
          <a:prstGeom prst="rect">
            <a:avLst/>
          </a:prstGeom>
          <a:noFill/>
        </p:spPr>
        <p:txBody>
          <a:bodyPr wrap="none" lIns="91440" tIns="45720" rIns="91440" bIns="45720">
            <a:spAutoFit/>
          </a:bodyPr>
          <a:lstStyle/>
          <a:p>
            <a:pPr algn="ctr"/>
            <a:r>
              <a:rPr lang="en-US" sz="4400" dirty="0">
                <a:ln w="0"/>
                <a:solidFill>
                  <a:srgbClr val="00B050"/>
                </a:solidFill>
                <a:effectLst>
                  <a:outerShdw blurRad="38100" dist="25400" dir="5400000" algn="ctr" rotWithShape="0">
                    <a:srgbClr val="6E747A">
                      <a:alpha val="43000"/>
                    </a:srgbClr>
                  </a:outerShdw>
                </a:effectLst>
              </a:rPr>
              <a:t>Lab 3A</a:t>
            </a:r>
          </a:p>
        </p:txBody>
      </p:sp>
    </p:spTree>
    <p:extLst>
      <p:ext uri="{BB962C8B-B14F-4D97-AF65-F5344CB8AC3E}">
        <p14:creationId xmlns:p14="http://schemas.microsoft.com/office/powerpoint/2010/main" val="1394466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2326" y="1328816"/>
            <a:ext cx="9266713"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Now, proceed to add your first pivot table. Insert a new pivot table based on the </a:t>
            </a:r>
            <a:r>
              <a:rPr lang="en-US" dirty="0" err="1"/>
              <a:t>SalesTable</a:t>
            </a:r>
            <a:r>
              <a:rPr lang="en-US" dirty="0"/>
              <a:t> to a new sheet. Arrange the layout so that the pivot table displays the </a:t>
            </a:r>
            <a:r>
              <a:rPr lang="en-US" b="1" dirty="0">
                <a:solidFill>
                  <a:srgbClr val="FF0000"/>
                </a:solidFill>
              </a:rPr>
              <a:t>Product Category</a:t>
            </a:r>
            <a:r>
              <a:rPr lang="en-US" dirty="0"/>
              <a:t> and </a:t>
            </a:r>
            <a:r>
              <a:rPr lang="en-US" b="1" dirty="0">
                <a:solidFill>
                  <a:srgbClr val="FF0000"/>
                </a:solidFill>
              </a:rPr>
              <a:t>Sub Category</a:t>
            </a:r>
            <a:r>
              <a:rPr lang="en-US" dirty="0"/>
              <a:t> in the </a:t>
            </a:r>
            <a:r>
              <a:rPr lang="en-US" b="1" dirty="0">
                <a:solidFill>
                  <a:srgbClr val="FF0000"/>
                </a:solidFill>
              </a:rPr>
              <a:t>Rows</a:t>
            </a:r>
            <a:r>
              <a:rPr lang="en-US" dirty="0"/>
              <a:t>, </a:t>
            </a:r>
            <a:r>
              <a:rPr lang="en-US" b="1" dirty="0">
                <a:solidFill>
                  <a:srgbClr val="FF0000"/>
                </a:solidFill>
              </a:rPr>
              <a:t>Year</a:t>
            </a:r>
            <a:r>
              <a:rPr lang="en-US" b="1" dirty="0"/>
              <a:t> </a:t>
            </a:r>
            <a:r>
              <a:rPr lang="en-US" dirty="0"/>
              <a:t>in the </a:t>
            </a:r>
            <a:r>
              <a:rPr lang="en-US" b="1" dirty="0"/>
              <a:t>Columns</a:t>
            </a:r>
            <a:r>
              <a:rPr lang="en-US" dirty="0"/>
              <a:t>, and </a:t>
            </a:r>
            <a:r>
              <a:rPr lang="en-US" b="1" dirty="0">
                <a:solidFill>
                  <a:srgbClr val="FF0000"/>
                </a:solidFill>
              </a:rPr>
              <a:t>Revenue</a:t>
            </a:r>
            <a:r>
              <a:rPr lang="en-US" dirty="0"/>
              <a:t> (Sum of) as the </a:t>
            </a:r>
            <a:r>
              <a:rPr lang="en-US" b="1" dirty="0">
                <a:solidFill>
                  <a:srgbClr val="FF0000"/>
                </a:solidFill>
              </a:rPr>
              <a:t>Values</a:t>
            </a:r>
            <a:r>
              <a:rPr lang="en-US" dirty="0"/>
              <a:t>.</a:t>
            </a:r>
            <a:endParaRPr lang="en-US" b="0" i="0" dirty="0">
              <a:solidFill>
                <a:srgbClr val="3C3C3C"/>
              </a:solidFill>
              <a:effectLst/>
              <a:latin typeface="Open Sans"/>
            </a:endParaRPr>
          </a:p>
        </p:txBody>
      </p:sp>
      <p:sp>
        <p:nvSpPr>
          <p:cNvPr id="4" name="Rectangle 3"/>
          <p:cNvSpPr/>
          <p:nvPr/>
        </p:nvSpPr>
        <p:spPr>
          <a:xfrm>
            <a:off x="906846" y="449307"/>
            <a:ext cx="4011034" cy="769441"/>
          </a:xfrm>
          <a:prstGeom prst="rect">
            <a:avLst/>
          </a:prstGeom>
          <a:noFill/>
        </p:spPr>
        <p:txBody>
          <a:bodyPr wrap="none" lIns="91440" tIns="45720" rIns="91440" bIns="45720">
            <a:spAutoFit/>
          </a:bodyPr>
          <a:lstStyle/>
          <a:p>
            <a:pPr algn="ctr"/>
            <a:r>
              <a:rPr lang="en-US" sz="4400" dirty="0">
                <a:ln w="0"/>
                <a:solidFill>
                  <a:srgbClr val="00B050"/>
                </a:solidFill>
                <a:effectLst>
                  <a:outerShdw blurRad="38100" dist="25400" dir="5400000" algn="ctr" rotWithShape="0">
                    <a:srgbClr val="6E747A">
                      <a:alpha val="43000"/>
                    </a:srgbClr>
                  </a:outerShdw>
                </a:effectLst>
              </a:rPr>
              <a:t>Lab </a:t>
            </a:r>
            <a:r>
              <a:rPr lang="en-US" sz="4400" dirty="0" err="1">
                <a:ln w="0"/>
                <a:solidFill>
                  <a:srgbClr val="00B050"/>
                </a:solidFill>
                <a:effectLst>
                  <a:outerShdw blurRad="38100" dist="25400" dir="5400000" algn="ctr" rotWithShape="0">
                    <a:srgbClr val="6E747A">
                      <a:alpha val="43000"/>
                    </a:srgbClr>
                  </a:outerShdw>
                </a:effectLst>
              </a:rPr>
              <a:t>3A</a:t>
            </a:r>
            <a:r>
              <a:rPr lang="ar-EG" sz="4400" dirty="0">
                <a:ln w="0"/>
                <a:solidFill>
                  <a:srgbClr val="00B050"/>
                </a:solidFill>
                <a:effectLst>
                  <a:outerShdw blurRad="38100" dist="25400" dir="5400000" algn="ctr" rotWithShape="0">
                    <a:srgbClr val="6E747A">
                      <a:alpha val="43000"/>
                    </a:srgbClr>
                  </a:outerShdw>
                </a:effectLst>
              </a:rPr>
              <a:t> –</a:t>
            </a:r>
            <a:r>
              <a:rPr lang="en-US" sz="4400" dirty="0">
                <a:ln w="0"/>
                <a:solidFill>
                  <a:srgbClr val="00B050"/>
                </a:solidFill>
                <a:effectLst>
                  <a:outerShdw blurRad="38100" dist="25400" dir="5400000" algn="ctr" rotWithShape="0">
                    <a:srgbClr val="6E747A">
                      <a:alpha val="43000"/>
                    </a:srgbClr>
                  </a:outerShdw>
                </a:effectLst>
              </a:rPr>
              <a:t> Step 1</a:t>
            </a:r>
          </a:p>
        </p:txBody>
      </p:sp>
    </p:spTree>
    <p:extLst>
      <p:ext uri="{BB962C8B-B14F-4D97-AF65-F5344CB8AC3E}">
        <p14:creationId xmlns:p14="http://schemas.microsoft.com/office/powerpoint/2010/main" val="1072859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1</a:t>
            </a:r>
          </a:p>
        </p:txBody>
      </p:sp>
      <p:sp>
        <p:nvSpPr>
          <p:cNvPr id="3" name="Rectangle 2"/>
          <p:cNvSpPr/>
          <p:nvPr/>
        </p:nvSpPr>
        <p:spPr>
          <a:xfrm>
            <a:off x="1005443" y="1280852"/>
            <a:ext cx="8182100" cy="461665"/>
          </a:xfrm>
          <a:prstGeom prst="rect">
            <a:avLst/>
          </a:prstGeom>
        </p:spPr>
        <p:txBody>
          <a:bodyPr wrap="square">
            <a:spAutoFit/>
          </a:bodyPr>
          <a:lstStyle/>
          <a:p>
            <a:r>
              <a:rPr lang="en-US" sz="2400" dirty="0"/>
              <a:t>Which year did the company start selling </a:t>
            </a:r>
            <a:r>
              <a:rPr lang="en-US" sz="2400" b="1" dirty="0">
                <a:solidFill>
                  <a:srgbClr val="C00000"/>
                </a:solidFill>
              </a:rPr>
              <a:t>Touring Bikes</a:t>
            </a:r>
            <a:r>
              <a:rPr lang="en-US" sz="2400" dirty="0"/>
              <a:t>?</a:t>
            </a:r>
          </a:p>
        </p:txBody>
      </p:sp>
      <p:sp>
        <p:nvSpPr>
          <p:cNvPr id="9" name="Rectangle 8"/>
          <p:cNvSpPr/>
          <p:nvPr/>
        </p:nvSpPr>
        <p:spPr>
          <a:xfrm>
            <a:off x="645346" y="2660134"/>
            <a:ext cx="6481152" cy="2246769"/>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B0F0"/>
                </a:solidFill>
                <a:latin typeface="Open Sans"/>
              </a:rPr>
              <a:t>A. 2011.</a:t>
            </a:r>
            <a:endParaRPr lang="en-US" sz="2000" b="0" i="0" dirty="0">
              <a:solidFill>
                <a:srgbClr val="00B0F0"/>
              </a:solidFill>
              <a:effectLst/>
              <a:latin typeface="Open Sans"/>
            </a:endParaRPr>
          </a:p>
          <a:p>
            <a:endParaRPr lang="en-US" sz="2000" b="0" i="0" dirty="0">
              <a:solidFill>
                <a:srgbClr val="00B0F0"/>
              </a:solidFill>
              <a:effectLst/>
              <a:latin typeface="Open Sans"/>
            </a:endParaRPr>
          </a:p>
          <a:p>
            <a:pPr marL="285750" indent="-285750">
              <a:buFont typeface="Arial" panose="020B0604020202020204" pitchFamily="34" charset="0"/>
              <a:buChar char="•"/>
            </a:pPr>
            <a:r>
              <a:rPr lang="en-US" sz="2000" dirty="0">
                <a:solidFill>
                  <a:srgbClr val="00B0F0"/>
                </a:solidFill>
              </a:rPr>
              <a:t>B. 2012</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C. 2013.</a:t>
            </a:r>
          </a:p>
          <a:p>
            <a:pPr marL="285750" indent="-285750">
              <a:buFont typeface="Arial" panose="020B0604020202020204" pitchFamily="34" charset="0"/>
              <a:buChar char="•"/>
            </a:pPr>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D. 2014</a:t>
            </a:r>
          </a:p>
        </p:txBody>
      </p:sp>
      <p:pic>
        <p:nvPicPr>
          <p:cNvPr id="11" name="Picture 10"/>
          <p:cNvPicPr>
            <a:picLocks noChangeAspect="1"/>
          </p:cNvPicPr>
          <p:nvPr/>
        </p:nvPicPr>
        <p:blipFill>
          <a:blip r:embed="rId2"/>
          <a:stretch>
            <a:fillRect/>
          </a:stretch>
        </p:blipFill>
        <p:spPr>
          <a:xfrm>
            <a:off x="1984280" y="3586997"/>
            <a:ext cx="703613" cy="751587"/>
          </a:xfrm>
          <a:prstGeom prst="rect">
            <a:avLst/>
          </a:prstGeom>
        </p:spPr>
      </p:pic>
      <p:sp>
        <p:nvSpPr>
          <p:cNvPr id="8" name="Rectangle 7"/>
          <p:cNvSpPr/>
          <p:nvPr/>
        </p:nvSpPr>
        <p:spPr>
          <a:xfrm>
            <a:off x="9834557" y="392191"/>
            <a:ext cx="1880644" cy="769441"/>
          </a:xfrm>
          <a:prstGeom prst="rect">
            <a:avLst/>
          </a:prstGeom>
          <a:noFill/>
        </p:spPr>
        <p:txBody>
          <a:bodyPr wrap="non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Lab 3A</a:t>
            </a:r>
          </a:p>
        </p:txBody>
      </p:sp>
    </p:spTree>
    <p:extLst>
      <p:ext uri="{BB962C8B-B14F-4D97-AF65-F5344CB8AC3E}">
        <p14:creationId xmlns:p14="http://schemas.microsoft.com/office/powerpoint/2010/main" val="323308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2326" y="1328816"/>
            <a:ext cx="9266713" cy="2169825"/>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Insert another pivot table to the same sheet, next to the existing pivot table. Arrange the layout so that the pivot table displays the </a:t>
            </a:r>
            <a:r>
              <a:rPr lang="en-US" b="1" dirty="0">
                <a:solidFill>
                  <a:srgbClr val="C00000"/>
                </a:solidFill>
              </a:rPr>
              <a:t>Country</a:t>
            </a:r>
            <a:r>
              <a:rPr lang="en-US" dirty="0"/>
              <a:t> and </a:t>
            </a:r>
            <a:r>
              <a:rPr lang="en-US" b="1" dirty="0">
                <a:solidFill>
                  <a:srgbClr val="C00000"/>
                </a:solidFill>
              </a:rPr>
              <a:t>Stat</a:t>
            </a:r>
            <a:r>
              <a:rPr lang="en-US" b="1" dirty="0"/>
              <a:t>e</a:t>
            </a:r>
            <a:r>
              <a:rPr lang="en-US" dirty="0"/>
              <a:t> in the </a:t>
            </a:r>
            <a:r>
              <a:rPr lang="en-US" b="1" dirty="0">
                <a:solidFill>
                  <a:srgbClr val="C00000"/>
                </a:solidFill>
              </a:rPr>
              <a:t>Rows</a:t>
            </a:r>
            <a:r>
              <a:rPr lang="en-US" dirty="0">
                <a:solidFill>
                  <a:srgbClr val="C00000"/>
                </a:solidFill>
              </a:rPr>
              <a:t>, </a:t>
            </a:r>
            <a:r>
              <a:rPr lang="en-US" b="1" dirty="0">
                <a:solidFill>
                  <a:srgbClr val="C00000"/>
                </a:solidFill>
              </a:rPr>
              <a:t>Year</a:t>
            </a:r>
            <a:r>
              <a:rPr lang="en-US" dirty="0"/>
              <a:t> in the </a:t>
            </a:r>
            <a:r>
              <a:rPr lang="en-US" b="1" dirty="0"/>
              <a:t>Columns</a:t>
            </a:r>
            <a:r>
              <a:rPr lang="en-US" dirty="0"/>
              <a:t>, and </a:t>
            </a:r>
            <a:r>
              <a:rPr lang="en-US" b="1" dirty="0">
                <a:solidFill>
                  <a:srgbClr val="FF0000"/>
                </a:solidFill>
              </a:rPr>
              <a:t>Revenu</a:t>
            </a:r>
            <a:r>
              <a:rPr lang="en-US" b="1" dirty="0"/>
              <a:t>e</a:t>
            </a:r>
            <a:r>
              <a:rPr lang="en-US" dirty="0"/>
              <a:t> (Sum of) as the </a:t>
            </a:r>
            <a:r>
              <a:rPr lang="en-US" b="1" dirty="0"/>
              <a:t>Values</a:t>
            </a:r>
            <a:r>
              <a:rPr lang="en-US" dirty="0"/>
              <a:t>. Sort the pivot table by </a:t>
            </a:r>
            <a:r>
              <a:rPr lang="en-US" b="1" dirty="0">
                <a:solidFill>
                  <a:srgbClr val="C00000"/>
                </a:solidFill>
              </a:rPr>
              <a:t>Sum of Revenue</a:t>
            </a:r>
            <a:r>
              <a:rPr lang="en-US" dirty="0"/>
              <a:t> so that the </a:t>
            </a:r>
            <a:r>
              <a:rPr lang="en-US" b="1" dirty="0">
                <a:solidFill>
                  <a:srgbClr val="C00000"/>
                </a:solidFill>
              </a:rPr>
              <a:t>Country</a:t>
            </a:r>
            <a:r>
              <a:rPr lang="en-US" dirty="0"/>
              <a:t> and </a:t>
            </a:r>
            <a:r>
              <a:rPr lang="en-US" b="1" dirty="0">
                <a:solidFill>
                  <a:srgbClr val="C00000"/>
                </a:solidFill>
              </a:rPr>
              <a:t>State</a:t>
            </a:r>
            <a:r>
              <a:rPr lang="en-US" dirty="0"/>
              <a:t> with the highest revenue is displayed first.</a:t>
            </a:r>
            <a:endParaRPr lang="en-US" b="0" i="0" dirty="0">
              <a:solidFill>
                <a:srgbClr val="3C3C3C"/>
              </a:solidFill>
              <a:effectLst/>
              <a:latin typeface="Open Sans"/>
            </a:endParaRPr>
          </a:p>
        </p:txBody>
      </p:sp>
      <p:sp>
        <p:nvSpPr>
          <p:cNvPr id="4" name="Rectangle 3"/>
          <p:cNvSpPr/>
          <p:nvPr/>
        </p:nvSpPr>
        <p:spPr>
          <a:xfrm>
            <a:off x="526874" y="485521"/>
            <a:ext cx="3847528" cy="769441"/>
          </a:xfrm>
          <a:prstGeom prst="rect">
            <a:avLst/>
          </a:prstGeom>
          <a:noFill/>
        </p:spPr>
        <p:txBody>
          <a:bodyPr wrap="none" lIns="91440" tIns="45720" rIns="91440" bIns="45720">
            <a:spAutoFit/>
          </a:bodyPr>
          <a:lstStyle/>
          <a:p>
            <a:pPr algn="ctr"/>
            <a:r>
              <a:rPr lang="en-US" sz="4400" dirty="0">
                <a:ln w="0"/>
                <a:solidFill>
                  <a:srgbClr val="00B050"/>
                </a:solidFill>
                <a:effectLst>
                  <a:outerShdw blurRad="38100" dist="25400" dir="5400000" algn="ctr" rotWithShape="0">
                    <a:srgbClr val="6E747A">
                      <a:alpha val="43000"/>
                    </a:srgbClr>
                  </a:outerShdw>
                </a:effectLst>
              </a:rPr>
              <a:t>Lab </a:t>
            </a:r>
            <a:r>
              <a:rPr lang="en-US" sz="4400" dirty="0" err="1">
                <a:ln w="0"/>
                <a:solidFill>
                  <a:srgbClr val="00B050"/>
                </a:solidFill>
                <a:effectLst>
                  <a:outerShdw blurRad="38100" dist="25400" dir="5400000" algn="ctr" rotWithShape="0">
                    <a:srgbClr val="6E747A">
                      <a:alpha val="43000"/>
                    </a:srgbClr>
                  </a:outerShdw>
                </a:effectLst>
              </a:rPr>
              <a:t>3A</a:t>
            </a:r>
            <a:r>
              <a:rPr lang="ar-EG" sz="4400" dirty="0">
                <a:ln w="0"/>
                <a:solidFill>
                  <a:srgbClr val="00B050"/>
                </a:solidFill>
                <a:effectLst>
                  <a:outerShdw blurRad="38100" dist="25400" dir="5400000" algn="ctr" rotWithShape="0">
                    <a:srgbClr val="6E747A">
                      <a:alpha val="43000"/>
                    </a:srgbClr>
                  </a:outerShdw>
                </a:effectLst>
              </a:rPr>
              <a:t> </a:t>
            </a:r>
            <a:r>
              <a:rPr lang="en-US" sz="4400" dirty="0">
                <a:ln w="0"/>
                <a:solidFill>
                  <a:srgbClr val="00B050"/>
                </a:solidFill>
                <a:effectLst>
                  <a:outerShdw blurRad="38100" dist="25400" dir="5400000" algn="ctr" rotWithShape="0">
                    <a:srgbClr val="6E747A">
                      <a:alpha val="43000"/>
                    </a:srgbClr>
                  </a:outerShdw>
                </a:effectLst>
              </a:rPr>
              <a:t>–Step 2</a:t>
            </a:r>
          </a:p>
        </p:txBody>
      </p:sp>
    </p:spTree>
    <p:extLst>
      <p:ext uri="{BB962C8B-B14F-4D97-AF65-F5344CB8AC3E}">
        <p14:creationId xmlns:p14="http://schemas.microsoft.com/office/powerpoint/2010/main" val="3455860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2</a:t>
            </a:r>
          </a:p>
        </p:txBody>
      </p:sp>
      <p:sp>
        <p:nvSpPr>
          <p:cNvPr id="3" name="Rectangle 2"/>
          <p:cNvSpPr/>
          <p:nvPr/>
        </p:nvSpPr>
        <p:spPr>
          <a:xfrm>
            <a:off x="827313" y="1620618"/>
            <a:ext cx="9195462" cy="1938992"/>
          </a:xfrm>
          <a:prstGeom prst="rect">
            <a:avLst/>
          </a:prstGeom>
        </p:spPr>
        <p:txBody>
          <a:bodyPr wrap="square">
            <a:spAutoFit/>
          </a:bodyPr>
          <a:lstStyle/>
          <a:p>
            <a:r>
              <a:rPr lang="en-US" sz="2400" b="1" cap="all" dirty="0"/>
              <a:t>PROBLEM</a:t>
            </a:r>
          </a:p>
          <a:p>
            <a:pPr marL="457200" indent="-457200">
              <a:buFont typeface="Arial" panose="020B0604020202020204" pitchFamily="34" charset="0"/>
              <a:buChar char="•"/>
            </a:pPr>
            <a:r>
              <a:rPr lang="en-US" sz="2400" dirty="0"/>
              <a:t>Rank the </a:t>
            </a:r>
            <a:r>
              <a:rPr lang="en-US" sz="2400" b="1" dirty="0">
                <a:solidFill>
                  <a:srgbClr val="C00000"/>
                </a:solidFill>
              </a:rPr>
              <a:t>States</a:t>
            </a:r>
            <a:r>
              <a:rPr lang="en-US" sz="2400" dirty="0"/>
              <a:t> for </a:t>
            </a:r>
            <a:r>
              <a:rPr lang="en-US" sz="2400" b="1" dirty="0">
                <a:solidFill>
                  <a:srgbClr val="C00000"/>
                </a:solidFill>
              </a:rPr>
              <a:t>German</a:t>
            </a:r>
            <a:r>
              <a:rPr lang="en-US" sz="2400" b="1" dirty="0">
                <a:solidFill>
                  <a:srgbClr val="FF0000"/>
                </a:solidFill>
              </a:rPr>
              <a:t>y</a:t>
            </a:r>
            <a:r>
              <a:rPr lang="en-US" sz="2400" dirty="0"/>
              <a:t>, from the highest to lowest revenue.</a:t>
            </a:r>
            <a:br>
              <a:rPr lang="en-US" sz="2400" dirty="0"/>
            </a:br>
            <a:r>
              <a:rPr lang="en-US" sz="2400" dirty="0">
                <a:solidFill>
                  <a:srgbClr val="C00000"/>
                </a:solidFill>
              </a:rPr>
              <a:t>Hint:</a:t>
            </a:r>
            <a:r>
              <a:rPr lang="en-US" sz="2400" dirty="0"/>
              <a:t> Sort the </a:t>
            </a:r>
            <a:r>
              <a:rPr lang="en-US" sz="2400" b="1" dirty="0">
                <a:solidFill>
                  <a:srgbClr val="C00000"/>
                </a:solidFill>
              </a:rPr>
              <a:t>States</a:t>
            </a:r>
            <a:r>
              <a:rPr lang="en-US" sz="2400" dirty="0"/>
              <a:t> field in descending order by </a:t>
            </a:r>
            <a:r>
              <a:rPr lang="en-US" sz="2400" b="1" dirty="0">
                <a:solidFill>
                  <a:srgbClr val="C00000"/>
                </a:solidFill>
              </a:rPr>
              <a:t>Sum of Revenue</a:t>
            </a:r>
            <a:endParaRPr lang="en-US" sz="2400" dirty="0">
              <a:solidFill>
                <a:srgbClr val="C00000"/>
              </a:solidFill>
            </a:endParaRPr>
          </a:p>
        </p:txBody>
      </p:sp>
      <p:pic>
        <p:nvPicPr>
          <p:cNvPr id="1027" name="DefaultOcx"/>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216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3241593" cy="523220"/>
          </a:xfrm>
          <a:prstGeom prst="rect">
            <a:avLst/>
          </a:prstGeom>
        </p:spPr>
        <p:txBody>
          <a:bodyPr wrap="none">
            <a:spAutoFit/>
          </a:bodyPr>
          <a:lstStyle/>
          <a:p>
            <a:r>
              <a:rPr lang="en-US" sz="2800" b="1" i="0" u="sng" dirty="0">
                <a:solidFill>
                  <a:srgbClr val="C00000"/>
                </a:solidFill>
                <a:effectLst/>
                <a:latin typeface="Open Sans"/>
              </a:rPr>
              <a:t>Question </a:t>
            </a:r>
            <a:r>
              <a:rPr lang="en-US" sz="2800" b="1" u="sng" dirty="0">
                <a:solidFill>
                  <a:srgbClr val="C00000"/>
                </a:solidFill>
                <a:latin typeface="Open Sans"/>
              </a:rPr>
              <a:t>2 </a:t>
            </a:r>
            <a:r>
              <a:rPr lang="en-US" sz="2800" b="1" i="0" u="sng" dirty="0">
                <a:solidFill>
                  <a:srgbClr val="C00000"/>
                </a:solidFill>
                <a:effectLst/>
                <a:latin typeface="Open Sans"/>
              </a:rPr>
              <a:t>(cont</a:t>
            </a:r>
            <a:r>
              <a:rPr lang="en-US" sz="2800" b="1" u="sng" dirty="0">
                <a:solidFill>
                  <a:srgbClr val="C00000"/>
                </a:solidFill>
                <a:latin typeface="Open Sans"/>
              </a:rPr>
              <a:t>.)</a:t>
            </a:r>
            <a:endParaRPr lang="en-US" sz="2800" b="1" i="0" u="sng" dirty="0">
              <a:solidFill>
                <a:srgbClr val="C00000"/>
              </a:solidFill>
              <a:effectLst/>
              <a:latin typeface="Open Sans"/>
            </a:endParaRPr>
          </a:p>
        </p:txBody>
      </p:sp>
      <p:pic>
        <p:nvPicPr>
          <p:cNvPr id="1027" name="DefaultOcx"/>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stretch>
            <a:fillRect/>
          </a:stretch>
        </p:blipFill>
        <p:spPr>
          <a:xfrm>
            <a:off x="4043816" y="782865"/>
            <a:ext cx="7210425" cy="5524500"/>
          </a:xfrm>
          <a:prstGeom prst="rect">
            <a:avLst/>
          </a:prstGeom>
        </p:spPr>
      </p:pic>
      <p:pic>
        <p:nvPicPr>
          <p:cNvPr id="3" name="Picture 2"/>
          <p:cNvPicPr>
            <a:picLocks noChangeAspect="1"/>
          </p:cNvPicPr>
          <p:nvPr/>
        </p:nvPicPr>
        <p:blipFill>
          <a:blip r:embed="rId4"/>
          <a:stretch>
            <a:fillRect/>
          </a:stretch>
        </p:blipFill>
        <p:spPr>
          <a:xfrm>
            <a:off x="4015241" y="782865"/>
            <a:ext cx="7239000" cy="5581650"/>
          </a:xfrm>
          <a:prstGeom prst="rect">
            <a:avLst/>
          </a:prstGeom>
        </p:spPr>
      </p:pic>
    </p:spTree>
    <p:extLst>
      <p:ext uri="{BB962C8B-B14F-4D97-AF65-F5344CB8AC3E}">
        <p14:creationId xmlns:p14="http://schemas.microsoft.com/office/powerpoint/2010/main" val="171478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a:t>
            </a:r>
            <a:r>
              <a:rPr lang="en-US" sz="2800" b="1" u="sng" dirty="0">
                <a:solidFill>
                  <a:srgbClr val="C00000"/>
                </a:solidFill>
                <a:latin typeface="Open Sans"/>
              </a:rPr>
              <a:t>3</a:t>
            </a:r>
            <a:endParaRPr lang="en-US" sz="2800" b="1" i="0" u="sng" dirty="0">
              <a:solidFill>
                <a:srgbClr val="C00000"/>
              </a:solidFill>
              <a:effectLst/>
              <a:latin typeface="Open Sans"/>
            </a:endParaRPr>
          </a:p>
        </p:txBody>
      </p:sp>
      <p:sp>
        <p:nvSpPr>
          <p:cNvPr id="3" name="Rectangle 2"/>
          <p:cNvSpPr/>
          <p:nvPr/>
        </p:nvSpPr>
        <p:spPr>
          <a:xfrm>
            <a:off x="827313" y="1620618"/>
            <a:ext cx="9195462" cy="1569660"/>
          </a:xfrm>
          <a:prstGeom prst="rect">
            <a:avLst/>
          </a:prstGeom>
        </p:spPr>
        <p:txBody>
          <a:bodyPr wrap="square">
            <a:spAutoFit/>
          </a:bodyPr>
          <a:lstStyle/>
          <a:p>
            <a:r>
              <a:rPr lang="en-US" sz="2400" b="1" cap="all" dirty="0"/>
              <a:t>PROBLEM</a:t>
            </a:r>
          </a:p>
          <a:p>
            <a:pPr marL="457200" indent="-457200">
              <a:buFont typeface="Arial" panose="020B0604020202020204" pitchFamily="34" charset="0"/>
              <a:buChar char="•"/>
            </a:pPr>
            <a:r>
              <a:rPr lang="en-US" sz="2400" dirty="0"/>
              <a:t>What about for the year 2013?</a:t>
            </a:r>
            <a:br>
              <a:rPr lang="en-US" sz="2400" dirty="0"/>
            </a:br>
            <a:r>
              <a:rPr lang="en-US" sz="2400" dirty="0">
                <a:solidFill>
                  <a:srgbClr val="C00000"/>
                </a:solidFill>
              </a:rPr>
              <a:t>Hint</a:t>
            </a:r>
            <a:r>
              <a:rPr lang="en-US" sz="2400" dirty="0"/>
              <a:t>: Expand </a:t>
            </a:r>
            <a:r>
              <a:rPr lang="en-US" sz="2400" b="1" dirty="0">
                <a:solidFill>
                  <a:srgbClr val="C00000"/>
                </a:solidFill>
              </a:rPr>
              <a:t>Germany</a:t>
            </a:r>
            <a:r>
              <a:rPr lang="en-US" sz="2400" dirty="0"/>
              <a:t> and sort the </a:t>
            </a:r>
            <a:r>
              <a:rPr lang="en-US" sz="2400" b="1" dirty="0">
                <a:solidFill>
                  <a:srgbClr val="C00000"/>
                </a:solidFill>
              </a:rPr>
              <a:t>State</a:t>
            </a:r>
            <a:r>
              <a:rPr lang="en-US" sz="2400" dirty="0"/>
              <a:t> field in descending order by </a:t>
            </a:r>
            <a:r>
              <a:rPr lang="en-US" sz="2400" b="1" dirty="0">
                <a:solidFill>
                  <a:srgbClr val="C00000"/>
                </a:solidFill>
              </a:rPr>
              <a:t>Sum of Revenue</a:t>
            </a:r>
            <a:r>
              <a:rPr lang="en-US" sz="2400" dirty="0"/>
              <a:t> using values from the 2013 column.</a:t>
            </a:r>
            <a:endParaRPr lang="en-US" sz="2400" dirty="0">
              <a:solidFill>
                <a:srgbClr val="C00000"/>
              </a:solidFill>
            </a:endParaRPr>
          </a:p>
        </p:txBody>
      </p:sp>
      <p:pic>
        <p:nvPicPr>
          <p:cNvPr id="1027" name="DefaultOcx"/>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0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3241593" cy="523220"/>
          </a:xfrm>
          <a:prstGeom prst="rect">
            <a:avLst/>
          </a:prstGeom>
        </p:spPr>
        <p:txBody>
          <a:bodyPr wrap="none">
            <a:spAutoFit/>
          </a:bodyPr>
          <a:lstStyle/>
          <a:p>
            <a:r>
              <a:rPr lang="en-US" sz="2800" b="1" i="0" u="sng" dirty="0">
                <a:solidFill>
                  <a:srgbClr val="C00000"/>
                </a:solidFill>
                <a:effectLst/>
                <a:latin typeface="Open Sans"/>
              </a:rPr>
              <a:t>Question </a:t>
            </a:r>
            <a:r>
              <a:rPr lang="en-US" sz="2800" b="1" u="sng" dirty="0">
                <a:solidFill>
                  <a:srgbClr val="C00000"/>
                </a:solidFill>
                <a:latin typeface="Open Sans"/>
              </a:rPr>
              <a:t>3 </a:t>
            </a:r>
            <a:r>
              <a:rPr lang="en-US" sz="2800" b="1" i="0" u="sng" dirty="0">
                <a:solidFill>
                  <a:srgbClr val="C00000"/>
                </a:solidFill>
                <a:effectLst/>
                <a:latin typeface="Open Sans"/>
              </a:rPr>
              <a:t>(cont</a:t>
            </a:r>
            <a:r>
              <a:rPr lang="en-US" sz="2800" b="1" u="sng" dirty="0">
                <a:solidFill>
                  <a:srgbClr val="C00000"/>
                </a:solidFill>
                <a:latin typeface="Open Sans"/>
              </a:rPr>
              <a:t>.)</a:t>
            </a:r>
            <a:endParaRPr lang="en-US" sz="2800" b="1" i="0" u="sng" dirty="0">
              <a:solidFill>
                <a:srgbClr val="C00000"/>
              </a:solidFill>
              <a:effectLst/>
              <a:latin typeface="Open Sans"/>
            </a:endParaRPr>
          </a:p>
        </p:txBody>
      </p:sp>
      <p:pic>
        <p:nvPicPr>
          <p:cNvPr id="1027" name="DefaultOcx"/>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stretch>
            <a:fillRect/>
          </a:stretch>
        </p:blipFill>
        <p:spPr>
          <a:xfrm>
            <a:off x="4043816" y="782865"/>
            <a:ext cx="7210425" cy="5524500"/>
          </a:xfrm>
          <a:prstGeom prst="rect">
            <a:avLst/>
          </a:prstGeom>
        </p:spPr>
      </p:pic>
      <p:pic>
        <p:nvPicPr>
          <p:cNvPr id="3" name="Picture 2"/>
          <p:cNvPicPr>
            <a:picLocks noChangeAspect="1"/>
          </p:cNvPicPr>
          <p:nvPr/>
        </p:nvPicPr>
        <p:blipFill>
          <a:blip r:embed="rId4"/>
          <a:stretch>
            <a:fillRect/>
          </a:stretch>
        </p:blipFill>
        <p:spPr>
          <a:xfrm>
            <a:off x="4043816" y="754290"/>
            <a:ext cx="7248525" cy="5553075"/>
          </a:xfrm>
          <a:prstGeom prst="rect">
            <a:avLst/>
          </a:prstGeom>
        </p:spPr>
      </p:pic>
    </p:spTree>
    <p:extLst>
      <p:ext uri="{BB962C8B-B14F-4D97-AF65-F5344CB8AC3E}">
        <p14:creationId xmlns:p14="http://schemas.microsoft.com/office/powerpoint/2010/main" val="2639305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2326" y="1328816"/>
            <a:ext cx="9266713"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Let's add another pivot table. </a:t>
            </a:r>
          </a:p>
          <a:p>
            <a:pPr marL="285750" indent="-285750">
              <a:lnSpc>
                <a:spcPct val="150000"/>
              </a:lnSpc>
              <a:buFont typeface="Arial" panose="020B0604020202020204" pitchFamily="34" charset="0"/>
              <a:buChar char="•"/>
            </a:pPr>
            <a:r>
              <a:rPr lang="en-US" dirty="0"/>
              <a:t>This time arrange the layout so that the pivot table displays the </a:t>
            </a:r>
            <a:r>
              <a:rPr lang="en-US" b="1" dirty="0">
                <a:solidFill>
                  <a:srgbClr val="C00000"/>
                </a:solidFill>
              </a:rPr>
              <a:t>Frame Size</a:t>
            </a:r>
            <a:r>
              <a:rPr lang="en-US" dirty="0"/>
              <a:t> in the </a:t>
            </a:r>
            <a:r>
              <a:rPr lang="en-US" b="1" dirty="0">
                <a:solidFill>
                  <a:srgbClr val="C00000"/>
                </a:solidFill>
              </a:rPr>
              <a:t>Rows</a:t>
            </a:r>
            <a:r>
              <a:rPr lang="en-US" dirty="0"/>
              <a:t> and </a:t>
            </a:r>
            <a:r>
              <a:rPr lang="en-US" b="1" dirty="0">
                <a:solidFill>
                  <a:srgbClr val="C00000"/>
                </a:solidFill>
              </a:rPr>
              <a:t>Revenue</a:t>
            </a:r>
            <a:r>
              <a:rPr lang="en-US" dirty="0"/>
              <a:t> (Sum of) as the </a:t>
            </a:r>
            <a:r>
              <a:rPr lang="en-US" b="1" dirty="0">
                <a:solidFill>
                  <a:srgbClr val="C00000"/>
                </a:solidFill>
              </a:rPr>
              <a:t>Values</a:t>
            </a:r>
            <a:r>
              <a:rPr lang="en-US" dirty="0"/>
              <a:t>. </a:t>
            </a:r>
          </a:p>
          <a:p>
            <a:pPr marL="285750" indent="-285750">
              <a:lnSpc>
                <a:spcPct val="150000"/>
              </a:lnSpc>
              <a:buFont typeface="Arial" panose="020B0604020202020204" pitchFamily="34" charset="0"/>
              <a:buChar char="•"/>
            </a:pPr>
            <a:r>
              <a:rPr lang="en-US" dirty="0"/>
              <a:t>Hide the rows that do not have a Frame size (blank Frame size), then sort the pivot table by </a:t>
            </a:r>
            <a:r>
              <a:rPr lang="en-US" b="1" dirty="0">
                <a:solidFill>
                  <a:srgbClr val="C00000"/>
                </a:solidFill>
              </a:rPr>
              <a:t>Sum of Revenue</a:t>
            </a:r>
            <a:r>
              <a:rPr lang="en-US" dirty="0"/>
              <a:t> so that the </a:t>
            </a:r>
            <a:r>
              <a:rPr lang="en-US" b="1" dirty="0">
                <a:solidFill>
                  <a:srgbClr val="C00000"/>
                </a:solidFill>
              </a:rPr>
              <a:t>Frame siz</a:t>
            </a:r>
            <a:r>
              <a:rPr lang="en-US" b="1" dirty="0">
                <a:solidFill>
                  <a:srgbClr val="FF0000"/>
                </a:solidFill>
              </a:rPr>
              <a:t>e</a:t>
            </a:r>
            <a:r>
              <a:rPr lang="en-US" dirty="0"/>
              <a:t> with the highest revenue is displayed first.</a:t>
            </a:r>
            <a:endParaRPr lang="en-US" b="0" i="0" dirty="0">
              <a:solidFill>
                <a:srgbClr val="3C3C3C"/>
              </a:solidFill>
              <a:effectLst/>
              <a:latin typeface="Open Sans"/>
            </a:endParaRPr>
          </a:p>
        </p:txBody>
      </p:sp>
      <p:sp>
        <p:nvSpPr>
          <p:cNvPr id="4" name="Rectangle 3"/>
          <p:cNvSpPr/>
          <p:nvPr/>
        </p:nvSpPr>
        <p:spPr>
          <a:xfrm>
            <a:off x="415433" y="385933"/>
            <a:ext cx="3979872" cy="769441"/>
          </a:xfrm>
          <a:prstGeom prst="rect">
            <a:avLst/>
          </a:prstGeom>
          <a:noFill/>
        </p:spPr>
        <p:txBody>
          <a:bodyPr wrap="none" lIns="91440" tIns="45720" rIns="91440" bIns="45720">
            <a:spAutoFit/>
          </a:bodyPr>
          <a:lstStyle/>
          <a:p>
            <a:pPr algn="ctr"/>
            <a:r>
              <a:rPr lang="en-US" sz="4400" dirty="0">
                <a:ln w="0"/>
                <a:solidFill>
                  <a:srgbClr val="00B050"/>
                </a:solidFill>
                <a:effectLst>
                  <a:outerShdw blurRad="38100" dist="25400" dir="5400000" algn="ctr" rotWithShape="0">
                    <a:srgbClr val="6E747A">
                      <a:alpha val="43000"/>
                    </a:srgbClr>
                  </a:outerShdw>
                </a:effectLst>
              </a:rPr>
              <a:t>Lab </a:t>
            </a:r>
            <a:r>
              <a:rPr lang="en-US" sz="4400" dirty="0" err="1">
                <a:ln w="0"/>
                <a:solidFill>
                  <a:srgbClr val="00B050"/>
                </a:solidFill>
                <a:effectLst>
                  <a:outerShdw blurRad="38100" dist="25400" dir="5400000" algn="ctr" rotWithShape="0">
                    <a:srgbClr val="6E747A">
                      <a:alpha val="43000"/>
                    </a:srgbClr>
                  </a:outerShdw>
                </a:effectLst>
              </a:rPr>
              <a:t>3A</a:t>
            </a:r>
            <a:r>
              <a:rPr lang="en-US" sz="4400" dirty="0">
                <a:ln w="0"/>
                <a:solidFill>
                  <a:srgbClr val="00B050"/>
                </a:solidFill>
                <a:effectLst>
                  <a:outerShdw blurRad="38100" dist="25400" dir="5400000" algn="ctr" rotWithShape="0">
                    <a:srgbClr val="6E747A">
                      <a:alpha val="43000"/>
                    </a:srgbClr>
                  </a:outerShdw>
                </a:effectLst>
              </a:rPr>
              <a:t> – Step 3</a:t>
            </a:r>
          </a:p>
        </p:txBody>
      </p:sp>
    </p:spTree>
    <p:extLst>
      <p:ext uri="{BB962C8B-B14F-4D97-AF65-F5344CB8AC3E}">
        <p14:creationId xmlns:p14="http://schemas.microsoft.com/office/powerpoint/2010/main" val="2757001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4</a:t>
            </a:r>
          </a:p>
        </p:txBody>
      </p:sp>
      <p:sp>
        <p:nvSpPr>
          <p:cNvPr id="3" name="Rectangle 2"/>
          <p:cNvSpPr/>
          <p:nvPr/>
        </p:nvSpPr>
        <p:spPr>
          <a:xfrm>
            <a:off x="1005443" y="1280852"/>
            <a:ext cx="8182100" cy="461665"/>
          </a:xfrm>
          <a:prstGeom prst="rect">
            <a:avLst/>
          </a:prstGeom>
        </p:spPr>
        <p:txBody>
          <a:bodyPr wrap="square">
            <a:spAutoFit/>
          </a:bodyPr>
          <a:lstStyle/>
          <a:p>
            <a:r>
              <a:rPr lang="en-US" sz="2400" dirty="0"/>
              <a:t>Which frame size sold the most?</a:t>
            </a:r>
          </a:p>
        </p:txBody>
      </p:sp>
      <p:sp>
        <p:nvSpPr>
          <p:cNvPr id="9" name="Rectangle 8"/>
          <p:cNvSpPr/>
          <p:nvPr/>
        </p:nvSpPr>
        <p:spPr>
          <a:xfrm>
            <a:off x="645346" y="2660134"/>
            <a:ext cx="6481152" cy="2246769"/>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B0F0"/>
                </a:solidFill>
                <a:latin typeface="Open Sans"/>
              </a:rPr>
              <a:t>A. 40.</a:t>
            </a:r>
            <a:endParaRPr lang="en-US" sz="2000" b="0" i="0" dirty="0">
              <a:solidFill>
                <a:srgbClr val="00B0F0"/>
              </a:solidFill>
              <a:effectLst/>
              <a:latin typeface="Open Sans"/>
            </a:endParaRPr>
          </a:p>
          <a:p>
            <a:endParaRPr lang="en-US" sz="2000" b="0" i="0" dirty="0">
              <a:solidFill>
                <a:srgbClr val="00B0F0"/>
              </a:solidFill>
              <a:effectLst/>
              <a:latin typeface="Open Sans"/>
            </a:endParaRPr>
          </a:p>
          <a:p>
            <a:pPr marL="285750" indent="-285750">
              <a:buFont typeface="Arial" panose="020B0604020202020204" pitchFamily="34" charset="0"/>
              <a:buChar char="•"/>
            </a:pPr>
            <a:r>
              <a:rPr lang="en-US" sz="2000" dirty="0">
                <a:solidFill>
                  <a:srgbClr val="00B0F0"/>
                </a:solidFill>
              </a:rPr>
              <a:t>B. 42</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C. 44</a:t>
            </a:r>
          </a:p>
          <a:p>
            <a:pPr marL="285750" indent="-285750">
              <a:buFont typeface="Arial" panose="020B0604020202020204" pitchFamily="34" charset="0"/>
              <a:buChar char="•"/>
            </a:pPr>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D. 48</a:t>
            </a:r>
          </a:p>
        </p:txBody>
      </p:sp>
      <p:pic>
        <p:nvPicPr>
          <p:cNvPr id="11" name="Picture 10"/>
          <p:cNvPicPr>
            <a:picLocks noChangeAspect="1"/>
          </p:cNvPicPr>
          <p:nvPr/>
        </p:nvPicPr>
        <p:blipFill>
          <a:blip r:embed="rId2"/>
          <a:stretch>
            <a:fillRect/>
          </a:stretch>
        </p:blipFill>
        <p:spPr>
          <a:xfrm>
            <a:off x="1666619" y="3031931"/>
            <a:ext cx="703613" cy="751587"/>
          </a:xfrm>
          <a:prstGeom prst="rect">
            <a:avLst/>
          </a:prstGeom>
        </p:spPr>
      </p:pic>
      <p:sp>
        <p:nvSpPr>
          <p:cNvPr id="8" name="Rectangle 7"/>
          <p:cNvSpPr/>
          <p:nvPr/>
        </p:nvSpPr>
        <p:spPr>
          <a:xfrm>
            <a:off x="9834557" y="392191"/>
            <a:ext cx="1880644" cy="769441"/>
          </a:xfrm>
          <a:prstGeom prst="rect">
            <a:avLst/>
          </a:prstGeom>
          <a:noFill/>
        </p:spPr>
        <p:txBody>
          <a:bodyPr wrap="non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Lab 3A</a:t>
            </a:r>
          </a:p>
        </p:txBody>
      </p:sp>
    </p:spTree>
    <p:extLst>
      <p:ext uri="{BB962C8B-B14F-4D97-AF65-F5344CB8AC3E}">
        <p14:creationId xmlns:p14="http://schemas.microsoft.com/office/powerpoint/2010/main" val="1804177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2326" y="1328816"/>
            <a:ext cx="9266713" cy="2169825"/>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Last but not least, add another pivot table with </a:t>
            </a:r>
            <a:r>
              <a:rPr lang="en-US" b="1" dirty="0">
                <a:solidFill>
                  <a:srgbClr val="C00000"/>
                </a:solidFill>
              </a:rPr>
              <a:t>Age Group</a:t>
            </a:r>
            <a:r>
              <a:rPr lang="en-US" dirty="0"/>
              <a:t> as the </a:t>
            </a:r>
            <a:r>
              <a:rPr lang="en-US" b="1" dirty="0">
                <a:solidFill>
                  <a:srgbClr val="C00000"/>
                </a:solidFill>
              </a:rPr>
              <a:t>Row</a:t>
            </a:r>
            <a:r>
              <a:rPr lang="en-US" b="1" dirty="0">
                <a:solidFill>
                  <a:srgbClr val="FF0000"/>
                </a:solidFill>
              </a:rPr>
              <a:t>s</a:t>
            </a:r>
            <a:r>
              <a:rPr lang="en-US" dirty="0"/>
              <a:t> and </a:t>
            </a:r>
            <a:r>
              <a:rPr lang="en-US" b="1" dirty="0">
                <a:solidFill>
                  <a:srgbClr val="C00000"/>
                </a:solidFill>
              </a:rPr>
              <a:t>Revenue</a:t>
            </a:r>
            <a:r>
              <a:rPr lang="en-US" dirty="0"/>
              <a:t> (Sum of) as the </a:t>
            </a:r>
            <a:r>
              <a:rPr lang="en-US" b="1" dirty="0">
                <a:solidFill>
                  <a:srgbClr val="C00000"/>
                </a:solidFill>
              </a:rPr>
              <a:t>Values</a:t>
            </a:r>
            <a:r>
              <a:rPr lang="en-US" dirty="0"/>
              <a:t>. </a:t>
            </a:r>
          </a:p>
          <a:p>
            <a:pPr marL="285750" indent="-285750">
              <a:lnSpc>
                <a:spcPct val="150000"/>
              </a:lnSpc>
              <a:buFont typeface="Arial" panose="020B0604020202020204" pitchFamily="34" charset="0"/>
              <a:buChar char="•"/>
            </a:pPr>
            <a:r>
              <a:rPr lang="en-US" dirty="0"/>
              <a:t>You will learn how to custom sort the Age Group in the next module.</a:t>
            </a:r>
          </a:p>
          <a:p>
            <a:pPr marL="285750" indent="-285750">
              <a:lnSpc>
                <a:spcPct val="150000"/>
              </a:lnSpc>
              <a:buFont typeface="Arial" panose="020B0604020202020204" pitchFamily="34" charset="0"/>
              <a:buChar char="•"/>
            </a:pPr>
            <a:r>
              <a:rPr lang="en-US" dirty="0"/>
              <a:t>But for now, sort the pivot table by </a:t>
            </a:r>
            <a:r>
              <a:rPr lang="en-US" b="1" dirty="0">
                <a:solidFill>
                  <a:srgbClr val="C00000"/>
                </a:solidFill>
              </a:rPr>
              <a:t>Sum of Revenue</a:t>
            </a:r>
            <a:r>
              <a:rPr lang="en-US" dirty="0"/>
              <a:t> so that the </a:t>
            </a:r>
            <a:r>
              <a:rPr lang="en-US" b="1" dirty="0">
                <a:solidFill>
                  <a:srgbClr val="C00000"/>
                </a:solidFill>
              </a:rPr>
              <a:t>Age Group</a:t>
            </a:r>
            <a:r>
              <a:rPr lang="en-US" dirty="0"/>
              <a:t> with the highest revenue is displayed first.</a:t>
            </a:r>
            <a:endParaRPr lang="en-US" b="0" i="0" dirty="0">
              <a:solidFill>
                <a:srgbClr val="3C3C3C"/>
              </a:solidFill>
              <a:effectLst/>
              <a:latin typeface="Open Sans"/>
            </a:endParaRPr>
          </a:p>
        </p:txBody>
      </p:sp>
      <p:sp>
        <p:nvSpPr>
          <p:cNvPr id="4" name="Rectangle 3"/>
          <p:cNvSpPr/>
          <p:nvPr/>
        </p:nvSpPr>
        <p:spPr>
          <a:xfrm>
            <a:off x="451647" y="559375"/>
            <a:ext cx="3979872" cy="769441"/>
          </a:xfrm>
          <a:prstGeom prst="rect">
            <a:avLst/>
          </a:prstGeom>
          <a:noFill/>
        </p:spPr>
        <p:txBody>
          <a:bodyPr wrap="none" lIns="91440" tIns="45720" rIns="91440" bIns="45720">
            <a:spAutoFit/>
          </a:bodyPr>
          <a:lstStyle/>
          <a:p>
            <a:pPr algn="ctr"/>
            <a:r>
              <a:rPr lang="en-US" sz="4400" dirty="0">
                <a:ln w="0"/>
                <a:solidFill>
                  <a:srgbClr val="00B050"/>
                </a:solidFill>
                <a:effectLst>
                  <a:outerShdw blurRad="38100" dist="25400" dir="5400000" algn="ctr" rotWithShape="0">
                    <a:srgbClr val="6E747A">
                      <a:alpha val="43000"/>
                    </a:srgbClr>
                  </a:outerShdw>
                </a:effectLst>
              </a:rPr>
              <a:t>Lab </a:t>
            </a:r>
            <a:r>
              <a:rPr lang="en-US" sz="4400" dirty="0" err="1">
                <a:ln w="0"/>
                <a:solidFill>
                  <a:srgbClr val="00B050"/>
                </a:solidFill>
                <a:effectLst>
                  <a:outerShdw blurRad="38100" dist="25400" dir="5400000" algn="ctr" rotWithShape="0">
                    <a:srgbClr val="6E747A">
                      <a:alpha val="43000"/>
                    </a:srgbClr>
                  </a:outerShdw>
                </a:effectLst>
              </a:rPr>
              <a:t>3A</a:t>
            </a:r>
            <a:r>
              <a:rPr lang="en-US" sz="4400" dirty="0">
                <a:ln w="0"/>
                <a:solidFill>
                  <a:srgbClr val="00B050"/>
                </a:solidFill>
                <a:effectLst>
                  <a:outerShdw blurRad="38100" dist="25400" dir="5400000" algn="ctr" rotWithShape="0">
                    <a:srgbClr val="6E747A">
                      <a:alpha val="43000"/>
                    </a:srgbClr>
                  </a:outerShdw>
                </a:effectLst>
              </a:rPr>
              <a:t> – Step 4</a:t>
            </a:r>
          </a:p>
        </p:txBody>
      </p:sp>
    </p:spTree>
    <p:extLst>
      <p:ext uri="{BB962C8B-B14F-4D97-AF65-F5344CB8AC3E}">
        <p14:creationId xmlns:p14="http://schemas.microsoft.com/office/powerpoint/2010/main" val="23554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a:t>
            </a:r>
            <a:r>
              <a:rPr lang="en-US" sz="2800" b="1" u="sng" dirty="0">
                <a:solidFill>
                  <a:srgbClr val="C00000"/>
                </a:solidFill>
                <a:latin typeface="Open Sans"/>
              </a:rPr>
              <a:t>5</a:t>
            </a:r>
            <a:endParaRPr lang="en-US" sz="2800" b="1" i="0" u="sng" dirty="0">
              <a:solidFill>
                <a:srgbClr val="C00000"/>
              </a:solidFill>
              <a:effectLst/>
              <a:latin typeface="Open Sans"/>
            </a:endParaRPr>
          </a:p>
        </p:txBody>
      </p:sp>
      <p:sp>
        <p:nvSpPr>
          <p:cNvPr id="3" name="Rectangle 2"/>
          <p:cNvSpPr/>
          <p:nvPr/>
        </p:nvSpPr>
        <p:spPr>
          <a:xfrm>
            <a:off x="1005443" y="1280852"/>
            <a:ext cx="8182100" cy="461665"/>
          </a:xfrm>
          <a:prstGeom prst="rect">
            <a:avLst/>
          </a:prstGeom>
        </p:spPr>
        <p:txBody>
          <a:bodyPr wrap="square">
            <a:spAutoFit/>
          </a:bodyPr>
          <a:lstStyle/>
          <a:p>
            <a:r>
              <a:rPr lang="en-US" sz="2400" dirty="0"/>
              <a:t>Which </a:t>
            </a:r>
            <a:r>
              <a:rPr lang="en-US" sz="2400" b="1" dirty="0">
                <a:solidFill>
                  <a:srgbClr val="C00000"/>
                </a:solidFill>
              </a:rPr>
              <a:t>Age Group</a:t>
            </a:r>
            <a:r>
              <a:rPr lang="en-US" sz="2400" dirty="0"/>
              <a:t> has the lowest revenue?</a:t>
            </a:r>
          </a:p>
        </p:txBody>
      </p:sp>
      <p:sp>
        <p:nvSpPr>
          <p:cNvPr id="9" name="Rectangle 8"/>
          <p:cNvSpPr/>
          <p:nvPr/>
        </p:nvSpPr>
        <p:spPr>
          <a:xfrm>
            <a:off x="645346" y="2660134"/>
            <a:ext cx="6481152" cy="2246769"/>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B0F0"/>
                </a:solidFill>
                <a:latin typeface="Open Sans"/>
              </a:rPr>
              <a:t>A. Youth.</a:t>
            </a:r>
            <a:endParaRPr lang="en-US" sz="2000" b="0" i="0" dirty="0">
              <a:solidFill>
                <a:srgbClr val="00B0F0"/>
              </a:solidFill>
              <a:effectLst/>
              <a:latin typeface="Open Sans"/>
            </a:endParaRPr>
          </a:p>
          <a:p>
            <a:endParaRPr lang="en-US" sz="2000" b="0" i="0" dirty="0">
              <a:solidFill>
                <a:srgbClr val="00B0F0"/>
              </a:solidFill>
              <a:effectLst/>
              <a:latin typeface="Open Sans"/>
            </a:endParaRPr>
          </a:p>
          <a:p>
            <a:pPr marL="285750" indent="-285750">
              <a:buFont typeface="Arial" panose="020B0604020202020204" pitchFamily="34" charset="0"/>
              <a:buChar char="•"/>
            </a:pPr>
            <a:r>
              <a:rPr lang="en-US" sz="2000" dirty="0">
                <a:solidFill>
                  <a:srgbClr val="00B0F0"/>
                </a:solidFill>
              </a:rPr>
              <a:t>B. Young Adults</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C. Adults</a:t>
            </a:r>
          </a:p>
          <a:p>
            <a:pPr marL="285750" indent="-285750">
              <a:buFont typeface="Arial" panose="020B0604020202020204" pitchFamily="34" charset="0"/>
              <a:buChar char="•"/>
            </a:pPr>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D. Seniors</a:t>
            </a:r>
          </a:p>
        </p:txBody>
      </p:sp>
      <p:pic>
        <p:nvPicPr>
          <p:cNvPr id="11" name="Picture 10"/>
          <p:cNvPicPr>
            <a:picLocks noChangeAspect="1"/>
          </p:cNvPicPr>
          <p:nvPr/>
        </p:nvPicPr>
        <p:blipFill>
          <a:blip r:embed="rId2"/>
          <a:stretch>
            <a:fillRect/>
          </a:stretch>
        </p:blipFill>
        <p:spPr>
          <a:xfrm>
            <a:off x="2163117" y="4155316"/>
            <a:ext cx="703613" cy="751587"/>
          </a:xfrm>
          <a:prstGeom prst="rect">
            <a:avLst/>
          </a:prstGeom>
        </p:spPr>
      </p:pic>
      <p:sp>
        <p:nvSpPr>
          <p:cNvPr id="8" name="Rectangle 7"/>
          <p:cNvSpPr/>
          <p:nvPr/>
        </p:nvSpPr>
        <p:spPr>
          <a:xfrm>
            <a:off x="9834557" y="392191"/>
            <a:ext cx="1880644" cy="769441"/>
          </a:xfrm>
          <a:prstGeom prst="rect">
            <a:avLst/>
          </a:prstGeom>
          <a:noFill/>
        </p:spPr>
        <p:txBody>
          <a:bodyPr wrap="non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Lab 3A</a:t>
            </a:r>
          </a:p>
        </p:txBody>
      </p:sp>
    </p:spTree>
    <p:extLst>
      <p:ext uri="{BB962C8B-B14F-4D97-AF65-F5344CB8AC3E}">
        <p14:creationId xmlns:p14="http://schemas.microsoft.com/office/powerpoint/2010/main" val="4137444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0711" y="1098741"/>
            <a:ext cx="8494816" cy="3416320"/>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Now you can start adding some charts to the sheet.</a:t>
            </a:r>
          </a:p>
          <a:p>
            <a:pPr marL="285750" indent="-285750">
              <a:lnSpc>
                <a:spcPct val="150000"/>
              </a:lnSpc>
              <a:buFont typeface="Arial" panose="020B0604020202020204" pitchFamily="34" charset="0"/>
              <a:buChar char="•"/>
            </a:pPr>
            <a:r>
              <a:rPr lang="en-US" dirty="0"/>
              <a:t>First, add a pivot chart for the pivot table that shows yearly sales by Country.</a:t>
            </a:r>
          </a:p>
          <a:p>
            <a:pPr marL="285750" indent="-285750">
              <a:lnSpc>
                <a:spcPct val="150000"/>
              </a:lnSpc>
              <a:buFont typeface="Arial" panose="020B0604020202020204" pitchFamily="34" charset="0"/>
              <a:buChar char="•"/>
            </a:pPr>
            <a:r>
              <a:rPr lang="en-US" dirty="0"/>
              <a:t>Select a </a:t>
            </a:r>
            <a:r>
              <a:rPr lang="en-US" b="1" dirty="0">
                <a:solidFill>
                  <a:srgbClr val="C00000"/>
                </a:solidFill>
              </a:rPr>
              <a:t>Line</a:t>
            </a:r>
            <a:r>
              <a:rPr lang="en-US" dirty="0"/>
              <a:t> chart to display the yearly trend. </a:t>
            </a:r>
          </a:p>
          <a:p>
            <a:pPr marL="285750" indent="-285750">
              <a:lnSpc>
                <a:spcPct val="150000"/>
              </a:lnSpc>
              <a:buFont typeface="Arial" panose="020B0604020202020204" pitchFamily="34" charset="0"/>
              <a:buChar char="•"/>
            </a:pPr>
            <a:r>
              <a:rPr lang="en-US" dirty="0"/>
              <a:t>Make sure that the </a:t>
            </a:r>
            <a:r>
              <a:rPr lang="en-US" b="1" dirty="0">
                <a:solidFill>
                  <a:srgbClr val="C00000"/>
                </a:solidFill>
              </a:rPr>
              <a:t>Years</a:t>
            </a:r>
            <a:r>
              <a:rPr lang="en-US" dirty="0"/>
              <a:t> are located in the X axis, the </a:t>
            </a:r>
            <a:r>
              <a:rPr lang="en-US" b="1" dirty="0">
                <a:solidFill>
                  <a:srgbClr val="C00000"/>
                </a:solidFill>
              </a:rPr>
              <a:t>Revenue</a:t>
            </a:r>
            <a:r>
              <a:rPr lang="en-US" dirty="0"/>
              <a:t> in the Y axis, and the </a:t>
            </a:r>
            <a:r>
              <a:rPr lang="en-US" b="1" dirty="0">
                <a:solidFill>
                  <a:srgbClr val="C00000"/>
                </a:solidFill>
              </a:rPr>
              <a:t>Countrie</a:t>
            </a:r>
            <a:r>
              <a:rPr lang="en-US" b="1" dirty="0">
                <a:solidFill>
                  <a:srgbClr val="FF0000"/>
                </a:solidFill>
              </a:rPr>
              <a:t>s</a:t>
            </a:r>
            <a:r>
              <a:rPr lang="en-US" b="1" dirty="0"/>
              <a:t> </a:t>
            </a:r>
            <a:r>
              <a:rPr lang="en-US" dirty="0"/>
              <a:t>as categories. </a:t>
            </a:r>
          </a:p>
          <a:p>
            <a:pPr marL="285750" indent="-285750">
              <a:lnSpc>
                <a:spcPct val="150000"/>
              </a:lnSpc>
              <a:buFont typeface="Arial" panose="020B0604020202020204" pitchFamily="34" charset="0"/>
              <a:buChar char="•"/>
            </a:pPr>
            <a:r>
              <a:rPr lang="en-US" u="sng" dirty="0">
                <a:solidFill>
                  <a:srgbClr val="C00000"/>
                </a:solidFill>
              </a:rPr>
              <a:t>Hint:</a:t>
            </a:r>
            <a:r>
              <a:rPr lang="en-US" dirty="0"/>
              <a:t> You might find the Switch Row/Column in Select Data Source window useful. In addition, try Collapsing the Country fields in order to hide the States fields.</a:t>
            </a:r>
          </a:p>
        </p:txBody>
      </p:sp>
      <p:pic>
        <p:nvPicPr>
          <p:cNvPr id="6146" name="Picture 2" descr="https://d37djvu3ytnwxt.cloudfront.net/assets/courseware/v1/644968421ee57d22dd8a38576550fd15/asset-v1:Microsoft+DAT205x+3T2016+type@asset+block/jlm.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24413" y="4218821"/>
            <a:ext cx="4811828" cy="249082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9731" y="329300"/>
            <a:ext cx="3996608" cy="769441"/>
          </a:xfrm>
          <a:prstGeom prst="rect">
            <a:avLst/>
          </a:prstGeom>
          <a:noFill/>
        </p:spPr>
        <p:txBody>
          <a:bodyPr wrap="none" lIns="91440" tIns="45720" rIns="91440" bIns="45720">
            <a:spAutoFit/>
          </a:bodyPr>
          <a:lstStyle/>
          <a:p>
            <a:pPr algn="ctr"/>
            <a:r>
              <a:rPr lang="en-US" sz="4400" dirty="0">
                <a:ln w="0"/>
                <a:solidFill>
                  <a:srgbClr val="00B050"/>
                </a:solidFill>
                <a:effectLst>
                  <a:outerShdw blurRad="38100" dist="25400" dir="5400000" algn="ctr" rotWithShape="0">
                    <a:srgbClr val="6E747A">
                      <a:alpha val="43000"/>
                    </a:srgbClr>
                  </a:outerShdw>
                </a:effectLst>
              </a:rPr>
              <a:t>Lab </a:t>
            </a:r>
            <a:r>
              <a:rPr lang="en-US" sz="4400" dirty="0" err="1">
                <a:ln w="0"/>
                <a:solidFill>
                  <a:srgbClr val="00B050"/>
                </a:solidFill>
                <a:effectLst>
                  <a:outerShdw blurRad="38100" dist="25400" dir="5400000" algn="ctr" rotWithShape="0">
                    <a:srgbClr val="6E747A">
                      <a:alpha val="43000"/>
                    </a:srgbClr>
                  </a:outerShdw>
                </a:effectLst>
              </a:rPr>
              <a:t>3B</a:t>
            </a:r>
            <a:r>
              <a:rPr lang="en-US" sz="4400" dirty="0">
                <a:ln w="0"/>
                <a:solidFill>
                  <a:srgbClr val="00B050"/>
                </a:solidFill>
                <a:effectLst>
                  <a:outerShdw blurRad="38100" dist="25400" dir="5400000" algn="ctr" rotWithShape="0">
                    <a:srgbClr val="6E747A">
                      <a:alpha val="43000"/>
                    </a:srgbClr>
                  </a:outerShdw>
                </a:effectLst>
              </a:rPr>
              <a:t> – Step 1</a:t>
            </a:r>
          </a:p>
        </p:txBody>
      </p:sp>
    </p:spTree>
    <p:extLst>
      <p:ext uri="{BB962C8B-B14F-4D97-AF65-F5344CB8AC3E}">
        <p14:creationId xmlns:p14="http://schemas.microsoft.com/office/powerpoint/2010/main" val="124129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1</a:t>
            </a:r>
          </a:p>
        </p:txBody>
      </p:sp>
      <p:sp>
        <p:nvSpPr>
          <p:cNvPr id="3" name="Rectangle 2"/>
          <p:cNvSpPr/>
          <p:nvPr/>
        </p:nvSpPr>
        <p:spPr>
          <a:xfrm>
            <a:off x="1005442" y="1280852"/>
            <a:ext cx="9981871" cy="1569660"/>
          </a:xfrm>
          <a:prstGeom prst="rect">
            <a:avLst/>
          </a:prstGeom>
        </p:spPr>
        <p:txBody>
          <a:bodyPr wrap="square">
            <a:spAutoFit/>
          </a:bodyPr>
          <a:lstStyle/>
          <a:p>
            <a:r>
              <a:rPr lang="en-US" sz="2400" dirty="0"/>
              <a:t>In this chart, you can clearly see the sales trend for each Country.</a:t>
            </a:r>
          </a:p>
          <a:p>
            <a:endParaRPr lang="en-US" sz="2400" dirty="0"/>
          </a:p>
          <a:p>
            <a:r>
              <a:rPr lang="en-US" sz="2400" dirty="0"/>
              <a:t>Which country’s trend is the most different when compared to the other countries?</a:t>
            </a:r>
          </a:p>
        </p:txBody>
      </p:sp>
      <p:sp>
        <p:nvSpPr>
          <p:cNvPr id="9" name="Rectangle 8"/>
          <p:cNvSpPr/>
          <p:nvPr/>
        </p:nvSpPr>
        <p:spPr>
          <a:xfrm>
            <a:off x="834032" y="3778877"/>
            <a:ext cx="6481152" cy="2246769"/>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B0F0"/>
                </a:solidFill>
                <a:latin typeface="Open Sans"/>
              </a:rPr>
              <a:t>A. United States.</a:t>
            </a:r>
            <a:endParaRPr lang="en-US" sz="2000" b="0" i="0" dirty="0">
              <a:solidFill>
                <a:srgbClr val="00B0F0"/>
              </a:solidFill>
              <a:effectLst/>
              <a:latin typeface="Open Sans"/>
            </a:endParaRPr>
          </a:p>
          <a:p>
            <a:endParaRPr lang="en-US" sz="2000" b="0" i="0" dirty="0">
              <a:solidFill>
                <a:srgbClr val="00B0F0"/>
              </a:solidFill>
              <a:effectLst/>
              <a:latin typeface="Open Sans"/>
            </a:endParaRPr>
          </a:p>
          <a:p>
            <a:pPr marL="285750" indent="-285750">
              <a:buFont typeface="Arial" panose="020B0604020202020204" pitchFamily="34" charset="0"/>
              <a:buChar char="•"/>
            </a:pPr>
            <a:r>
              <a:rPr lang="en-US" sz="2000" dirty="0">
                <a:solidFill>
                  <a:srgbClr val="00B0F0"/>
                </a:solidFill>
              </a:rPr>
              <a:t>B. Australia</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C. Germany.</a:t>
            </a:r>
          </a:p>
          <a:p>
            <a:pPr marL="285750" indent="-285750">
              <a:buFont typeface="Arial" panose="020B0604020202020204" pitchFamily="34" charset="0"/>
              <a:buChar char="•"/>
            </a:pPr>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D. United Kingdom.</a:t>
            </a:r>
          </a:p>
        </p:txBody>
      </p:sp>
      <p:pic>
        <p:nvPicPr>
          <p:cNvPr id="11" name="Picture 10"/>
          <p:cNvPicPr>
            <a:picLocks noChangeAspect="1"/>
          </p:cNvPicPr>
          <p:nvPr/>
        </p:nvPicPr>
        <p:blipFill>
          <a:blip r:embed="rId2"/>
          <a:stretch>
            <a:fillRect/>
          </a:stretch>
        </p:blipFill>
        <p:spPr>
          <a:xfrm>
            <a:off x="2687893" y="4150674"/>
            <a:ext cx="703613" cy="751587"/>
          </a:xfrm>
          <a:prstGeom prst="rect">
            <a:avLst/>
          </a:prstGeom>
        </p:spPr>
      </p:pic>
      <p:sp>
        <p:nvSpPr>
          <p:cNvPr id="8" name="Rectangle 7"/>
          <p:cNvSpPr/>
          <p:nvPr/>
        </p:nvSpPr>
        <p:spPr>
          <a:xfrm>
            <a:off x="9841771" y="392191"/>
            <a:ext cx="1866217" cy="769441"/>
          </a:xfrm>
          <a:prstGeom prst="rect">
            <a:avLst/>
          </a:prstGeom>
          <a:noFill/>
        </p:spPr>
        <p:txBody>
          <a:bodyPr wrap="non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Lab 3B</a:t>
            </a:r>
          </a:p>
        </p:txBody>
      </p:sp>
    </p:spTree>
    <p:extLst>
      <p:ext uri="{BB962C8B-B14F-4D97-AF65-F5344CB8AC3E}">
        <p14:creationId xmlns:p14="http://schemas.microsoft.com/office/powerpoint/2010/main" val="3176791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2326" y="1328816"/>
            <a:ext cx="9266713" cy="1703415"/>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Add another pivot chart for the pivot table that shows yearly sales by Product Category. </a:t>
            </a:r>
          </a:p>
          <a:p>
            <a:pPr marL="285750" indent="-285750">
              <a:lnSpc>
                <a:spcPct val="150000"/>
              </a:lnSpc>
              <a:buFont typeface="Arial" panose="020B0604020202020204" pitchFamily="34" charset="0"/>
              <a:buChar char="•"/>
            </a:pPr>
            <a:r>
              <a:rPr lang="en-US" dirty="0"/>
              <a:t>Select a </a:t>
            </a:r>
            <a:r>
              <a:rPr lang="en-US" b="1" dirty="0">
                <a:solidFill>
                  <a:srgbClr val="C00000"/>
                </a:solidFill>
              </a:rPr>
              <a:t>Column</a:t>
            </a:r>
            <a:r>
              <a:rPr lang="en-US" dirty="0"/>
              <a:t> chart to display the yearly sales by category so that the years are together.</a:t>
            </a:r>
            <a:endParaRPr lang="en-US" b="0" i="0" dirty="0">
              <a:solidFill>
                <a:srgbClr val="3C3C3C"/>
              </a:solidFill>
              <a:effectLst/>
              <a:latin typeface="Open Sans"/>
            </a:endParaRPr>
          </a:p>
        </p:txBody>
      </p:sp>
      <p:sp>
        <p:nvSpPr>
          <p:cNvPr id="4" name="Rectangle 3"/>
          <p:cNvSpPr/>
          <p:nvPr/>
        </p:nvSpPr>
        <p:spPr>
          <a:xfrm>
            <a:off x="501079" y="559375"/>
            <a:ext cx="3826689" cy="769441"/>
          </a:xfrm>
          <a:prstGeom prst="rect">
            <a:avLst/>
          </a:prstGeom>
          <a:noFill/>
        </p:spPr>
        <p:txBody>
          <a:bodyPr wrap="none" lIns="91440" tIns="45720" rIns="91440" bIns="45720">
            <a:spAutoFit/>
          </a:bodyPr>
          <a:lstStyle/>
          <a:p>
            <a:pPr algn="ctr"/>
            <a:r>
              <a:rPr lang="en-US" sz="4400" dirty="0">
                <a:ln w="0"/>
                <a:solidFill>
                  <a:srgbClr val="00B050"/>
                </a:solidFill>
                <a:effectLst>
                  <a:outerShdw blurRad="38100" dist="25400" dir="5400000" algn="ctr" rotWithShape="0">
                    <a:srgbClr val="6E747A">
                      <a:alpha val="43000"/>
                    </a:srgbClr>
                  </a:outerShdw>
                </a:effectLst>
              </a:rPr>
              <a:t>Lab </a:t>
            </a:r>
            <a:r>
              <a:rPr lang="en-US" sz="4400" dirty="0" err="1">
                <a:ln w="0"/>
                <a:solidFill>
                  <a:srgbClr val="00B050"/>
                </a:solidFill>
                <a:effectLst>
                  <a:outerShdw blurRad="38100" dist="25400" dir="5400000" algn="ctr" rotWithShape="0">
                    <a:srgbClr val="6E747A">
                      <a:alpha val="43000"/>
                    </a:srgbClr>
                  </a:outerShdw>
                </a:effectLst>
              </a:rPr>
              <a:t>3B</a:t>
            </a:r>
            <a:r>
              <a:rPr lang="en-US" sz="4400" dirty="0">
                <a:ln w="0"/>
                <a:solidFill>
                  <a:srgbClr val="00B050"/>
                </a:solidFill>
                <a:effectLst>
                  <a:outerShdw blurRad="38100" dist="25400" dir="5400000" algn="ctr" rotWithShape="0">
                    <a:srgbClr val="6E747A">
                      <a:alpha val="43000"/>
                    </a:srgbClr>
                  </a:outerShdw>
                </a:effectLst>
              </a:rPr>
              <a:t> –Step 2</a:t>
            </a:r>
          </a:p>
        </p:txBody>
      </p:sp>
    </p:spTree>
    <p:extLst>
      <p:ext uri="{BB962C8B-B14F-4D97-AF65-F5344CB8AC3E}">
        <p14:creationId xmlns:p14="http://schemas.microsoft.com/office/powerpoint/2010/main" val="397114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2</a:t>
            </a:r>
          </a:p>
        </p:txBody>
      </p:sp>
      <p:sp>
        <p:nvSpPr>
          <p:cNvPr id="3" name="Rectangle 2"/>
          <p:cNvSpPr/>
          <p:nvPr/>
        </p:nvSpPr>
        <p:spPr>
          <a:xfrm>
            <a:off x="1005443" y="1280852"/>
            <a:ext cx="8182100" cy="461665"/>
          </a:xfrm>
          <a:prstGeom prst="rect">
            <a:avLst/>
          </a:prstGeom>
        </p:spPr>
        <p:txBody>
          <a:bodyPr wrap="square">
            <a:spAutoFit/>
          </a:bodyPr>
          <a:lstStyle/>
          <a:p>
            <a:r>
              <a:rPr lang="en-US" sz="2400"/>
              <a:t>Which year does the Bikes category have the least sales?</a:t>
            </a:r>
            <a:endParaRPr lang="en-US" sz="2400" dirty="0"/>
          </a:p>
        </p:txBody>
      </p:sp>
      <p:sp>
        <p:nvSpPr>
          <p:cNvPr id="9" name="Rectangle 8"/>
          <p:cNvSpPr/>
          <p:nvPr/>
        </p:nvSpPr>
        <p:spPr>
          <a:xfrm>
            <a:off x="645346" y="2660134"/>
            <a:ext cx="6481152" cy="2246769"/>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B0F0"/>
                </a:solidFill>
                <a:latin typeface="Open Sans"/>
              </a:rPr>
              <a:t>A. 2011.</a:t>
            </a:r>
            <a:endParaRPr lang="en-US" sz="2000" b="0" i="0" dirty="0">
              <a:solidFill>
                <a:srgbClr val="00B0F0"/>
              </a:solidFill>
              <a:effectLst/>
              <a:latin typeface="Open Sans"/>
            </a:endParaRPr>
          </a:p>
          <a:p>
            <a:endParaRPr lang="en-US" sz="2000" b="0" i="0" dirty="0">
              <a:solidFill>
                <a:srgbClr val="00B0F0"/>
              </a:solidFill>
              <a:effectLst/>
              <a:latin typeface="Open Sans"/>
            </a:endParaRPr>
          </a:p>
          <a:p>
            <a:pPr marL="285750" indent="-285750">
              <a:buFont typeface="Arial" panose="020B0604020202020204" pitchFamily="34" charset="0"/>
              <a:buChar char="•"/>
            </a:pPr>
            <a:r>
              <a:rPr lang="en-US" sz="2000" dirty="0">
                <a:solidFill>
                  <a:srgbClr val="00B0F0"/>
                </a:solidFill>
              </a:rPr>
              <a:t>B. 2012</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C. 2013.</a:t>
            </a:r>
          </a:p>
          <a:p>
            <a:pPr marL="285750" indent="-285750">
              <a:buFont typeface="Arial" panose="020B0604020202020204" pitchFamily="34" charset="0"/>
              <a:buChar char="•"/>
            </a:pPr>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D. 2014</a:t>
            </a:r>
          </a:p>
        </p:txBody>
      </p:sp>
      <p:pic>
        <p:nvPicPr>
          <p:cNvPr id="11" name="Picture 10"/>
          <p:cNvPicPr>
            <a:picLocks noChangeAspect="1"/>
          </p:cNvPicPr>
          <p:nvPr/>
        </p:nvPicPr>
        <p:blipFill>
          <a:blip r:embed="rId2"/>
          <a:stretch>
            <a:fillRect/>
          </a:stretch>
        </p:blipFill>
        <p:spPr>
          <a:xfrm>
            <a:off x="1984280" y="4155316"/>
            <a:ext cx="703613" cy="751587"/>
          </a:xfrm>
          <a:prstGeom prst="rect">
            <a:avLst/>
          </a:prstGeom>
        </p:spPr>
      </p:pic>
      <p:sp>
        <p:nvSpPr>
          <p:cNvPr id="8" name="Rectangle 7"/>
          <p:cNvSpPr/>
          <p:nvPr/>
        </p:nvSpPr>
        <p:spPr>
          <a:xfrm>
            <a:off x="9834557" y="392191"/>
            <a:ext cx="1880644" cy="769441"/>
          </a:xfrm>
          <a:prstGeom prst="rect">
            <a:avLst/>
          </a:prstGeom>
          <a:noFill/>
        </p:spPr>
        <p:txBody>
          <a:bodyPr wrap="non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Lab 3A</a:t>
            </a:r>
          </a:p>
        </p:txBody>
      </p:sp>
    </p:spTree>
    <p:extLst>
      <p:ext uri="{BB962C8B-B14F-4D97-AF65-F5344CB8AC3E}">
        <p14:creationId xmlns:p14="http://schemas.microsoft.com/office/powerpoint/2010/main" val="2057324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469" y="1517502"/>
            <a:ext cx="9266713" cy="1703415"/>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Add another pivot chart, this time for the pivot table that shows Revenue by Age Group. </a:t>
            </a:r>
          </a:p>
          <a:p>
            <a:pPr marL="285750" indent="-285750">
              <a:lnSpc>
                <a:spcPct val="150000"/>
              </a:lnSpc>
              <a:buFont typeface="Arial" panose="020B0604020202020204" pitchFamily="34" charset="0"/>
              <a:buChar char="•"/>
            </a:pPr>
            <a:r>
              <a:rPr lang="en-US" dirty="0"/>
              <a:t>Select a </a:t>
            </a:r>
            <a:r>
              <a:rPr lang="en-US" b="1" dirty="0">
                <a:solidFill>
                  <a:srgbClr val="FF0000"/>
                </a:solidFill>
              </a:rPr>
              <a:t>Pie</a:t>
            </a:r>
            <a:r>
              <a:rPr lang="en-US" dirty="0"/>
              <a:t> chart to display the proportion of each </a:t>
            </a:r>
            <a:r>
              <a:rPr lang="en-US" b="1" dirty="0">
                <a:solidFill>
                  <a:srgbClr val="FF0000"/>
                </a:solidFill>
              </a:rPr>
              <a:t>Age Group</a:t>
            </a:r>
            <a:r>
              <a:rPr lang="en-US" dirty="0"/>
              <a:t>. </a:t>
            </a:r>
          </a:p>
          <a:p>
            <a:pPr marL="285750" indent="-285750">
              <a:lnSpc>
                <a:spcPct val="150000"/>
              </a:lnSpc>
              <a:buFont typeface="Arial" panose="020B0604020202020204" pitchFamily="34" charset="0"/>
              <a:buChar char="•"/>
            </a:pPr>
            <a:r>
              <a:rPr lang="en-US" dirty="0"/>
              <a:t>Add the </a:t>
            </a:r>
            <a:r>
              <a:rPr lang="en-US" b="1" dirty="0">
                <a:solidFill>
                  <a:srgbClr val="FF0000"/>
                </a:solidFill>
              </a:rPr>
              <a:t>Data labels</a:t>
            </a:r>
            <a:r>
              <a:rPr lang="en-US" dirty="0"/>
              <a:t> to show percentage, formatted to two decimal points.</a:t>
            </a:r>
            <a:endParaRPr lang="en-US" b="0" i="0" dirty="0">
              <a:solidFill>
                <a:srgbClr val="3C3C3C"/>
              </a:solidFill>
              <a:effectLst/>
              <a:latin typeface="Open Sans"/>
            </a:endParaRPr>
          </a:p>
        </p:txBody>
      </p:sp>
      <p:sp>
        <p:nvSpPr>
          <p:cNvPr id="4" name="Rectangle 3"/>
          <p:cNvSpPr/>
          <p:nvPr/>
        </p:nvSpPr>
        <p:spPr>
          <a:xfrm>
            <a:off x="370851" y="422147"/>
            <a:ext cx="3996608" cy="769441"/>
          </a:xfrm>
          <a:prstGeom prst="rect">
            <a:avLst/>
          </a:prstGeom>
          <a:noFill/>
        </p:spPr>
        <p:txBody>
          <a:bodyPr wrap="none" lIns="91440" tIns="45720" rIns="91440" bIns="45720">
            <a:spAutoFit/>
          </a:bodyPr>
          <a:lstStyle/>
          <a:p>
            <a:pPr algn="ctr"/>
            <a:r>
              <a:rPr lang="en-US" sz="4400" dirty="0">
                <a:ln w="0"/>
                <a:solidFill>
                  <a:srgbClr val="00B050"/>
                </a:solidFill>
                <a:effectLst>
                  <a:outerShdw blurRad="38100" dist="25400" dir="5400000" algn="ctr" rotWithShape="0">
                    <a:srgbClr val="6E747A">
                      <a:alpha val="43000"/>
                    </a:srgbClr>
                  </a:outerShdw>
                </a:effectLst>
              </a:rPr>
              <a:t>Lab </a:t>
            </a:r>
            <a:r>
              <a:rPr lang="en-US" sz="4400" dirty="0" err="1">
                <a:ln w="0"/>
                <a:solidFill>
                  <a:srgbClr val="00B050"/>
                </a:solidFill>
                <a:effectLst>
                  <a:outerShdw blurRad="38100" dist="25400" dir="5400000" algn="ctr" rotWithShape="0">
                    <a:srgbClr val="6E747A">
                      <a:alpha val="43000"/>
                    </a:srgbClr>
                  </a:outerShdw>
                </a:effectLst>
              </a:rPr>
              <a:t>3B</a:t>
            </a:r>
            <a:r>
              <a:rPr lang="en-US" sz="4400" dirty="0">
                <a:ln w="0"/>
                <a:solidFill>
                  <a:srgbClr val="00B050"/>
                </a:solidFill>
                <a:effectLst>
                  <a:outerShdw blurRad="38100" dist="25400" dir="5400000" algn="ctr" rotWithShape="0">
                    <a:srgbClr val="6E747A">
                      <a:alpha val="43000"/>
                    </a:srgbClr>
                  </a:outerShdw>
                </a:effectLst>
              </a:rPr>
              <a:t> – Step 3</a:t>
            </a:r>
          </a:p>
        </p:txBody>
      </p:sp>
    </p:spTree>
    <p:extLst>
      <p:ext uri="{BB962C8B-B14F-4D97-AF65-F5344CB8AC3E}">
        <p14:creationId xmlns:p14="http://schemas.microsoft.com/office/powerpoint/2010/main" val="3621693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3</a:t>
            </a:r>
          </a:p>
        </p:txBody>
      </p:sp>
      <p:sp>
        <p:nvSpPr>
          <p:cNvPr id="3" name="Rectangle 2"/>
          <p:cNvSpPr/>
          <p:nvPr/>
        </p:nvSpPr>
        <p:spPr>
          <a:xfrm>
            <a:off x="1005443" y="1135145"/>
            <a:ext cx="8829114" cy="1569660"/>
          </a:xfrm>
          <a:prstGeom prst="rect">
            <a:avLst/>
          </a:prstGeom>
        </p:spPr>
        <p:txBody>
          <a:bodyPr wrap="square">
            <a:spAutoFit/>
          </a:bodyPr>
          <a:lstStyle/>
          <a:p>
            <a:r>
              <a:rPr lang="en-US" sz="2400" dirty="0"/>
              <a:t>In this chart, you can clearly see the proportion of sales for each </a:t>
            </a:r>
            <a:r>
              <a:rPr lang="en-US" sz="2400" b="1" dirty="0">
                <a:solidFill>
                  <a:srgbClr val="FF0000"/>
                </a:solidFill>
              </a:rPr>
              <a:t>Age Group</a:t>
            </a:r>
            <a:r>
              <a:rPr lang="en-US" sz="2400" dirty="0"/>
              <a:t>.</a:t>
            </a:r>
          </a:p>
          <a:p>
            <a:endParaRPr lang="en-US" sz="2400" dirty="0"/>
          </a:p>
          <a:p>
            <a:r>
              <a:rPr lang="en-US" sz="2400" dirty="0"/>
              <a:t>What is the proportion of sales for </a:t>
            </a:r>
            <a:r>
              <a:rPr lang="en-US" sz="2400" b="1" dirty="0">
                <a:solidFill>
                  <a:srgbClr val="FF0000"/>
                </a:solidFill>
              </a:rPr>
              <a:t>Young Adults</a:t>
            </a:r>
            <a:r>
              <a:rPr lang="en-US" sz="2400" dirty="0"/>
              <a:t>?</a:t>
            </a:r>
          </a:p>
        </p:txBody>
      </p:sp>
      <p:sp>
        <p:nvSpPr>
          <p:cNvPr id="9" name="Rectangle 8"/>
          <p:cNvSpPr/>
          <p:nvPr/>
        </p:nvSpPr>
        <p:spPr>
          <a:xfrm>
            <a:off x="707360" y="3447759"/>
            <a:ext cx="6481152" cy="2246769"/>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B0F0"/>
                </a:solidFill>
                <a:latin typeface="Open Sans"/>
              </a:rPr>
              <a:t>A. 54.96%.</a:t>
            </a:r>
            <a:endParaRPr lang="en-US" sz="2000" b="0" i="0" dirty="0">
              <a:solidFill>
                <a:srgbClr val="00B0F0"/>
              </a:solidFill>
              <a:effectLst/>
              <a:latin typeface="Open Sans"/>
            </a:endParaRPr>
          </a:p>
          <a:p>
            <a:endParaRPr lang="en-US" sz="2000" b="0" i="0" dirty="0">
              <a:solidFill>
                <a:srgbClr val="00B0F0"/>
              </a:solidFill>
              <a:effectLst/>
              <a:latin typeface="Open Sans"/>
            </a:endParaRPr>
          </a:p>
          <a:p>
            <a:pPr marL="285750" indent="-285750">
              <a:buFont typeface="Arial" panose="020B0604020202020204" pitchFamily="34" charset="0"/>
              <a:buChar char="•"/>
            </a:pPr>
            <a:r>
              <a:rPr lang="en-US" sz="2000" dirty="0">
                <a:solidFill>
                  <a:srgbClr val="00B0F0"/>
                </a:solidFill>
              </a:rPr>
              <a:t>B. 29.33%</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C. 35.95%</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D. 49.74%</a:t>
            </a:r>
          </a:p>
        </p:txBody>
      </p:sp>
      <p:pic>
        <p:nvPicPr>
          <p:cNvPr id="11" name="Picture 10"/>
          <p:cNvPicPr>
            <a:picLocks noChangeAspect="1"/>
          </p:cNvPicPr>
          <p:nvPr/>
        </p:nvPicPr>
        <p:blipFill>
          <a:blip r:embed="rId2"/>
          <a:stretch>
            <a:fillRect/>
          </a:stretch>
        </p:blipFill>
        <p:spPr>
          <a:xfrm>
            <a:off x="2336086" y="4459751"/>
            <a:ext cx="703613" cy="751587"/>
          </a:xfrm>
          <a:prstGeom prst="rect">
            <a:avLst/>
          </a:prstGeom>
        </p:spPr>
      </p:pic>
      <p:sp>
        <p:nvSpPr>
          <p:cNvPr id="8" name="Rectangle 7"/>
          <p:cNvSpPr/>
          <p:nvPr/>
        </p:nvSpPr>
        <p:spPr>
          <a:xfrm>
            <a:off x="9834557" y="392191"/>
            <a:ext cx="1880644" cy="769441"/>
          </a:xfrm>
          <a:prstGeom prst="rect">
            <a:avLst/>
          </a:prstGeom>
          <a:noFill/>
        </p:spPr>
        <p:txBody>
          <a:bodyPr wrap="non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Lab 3A</a:t>
            </a:r>
          </a:p>
        </p:txBody>
      </p:sp>
    </p:spTree>
    <p:extLst>
      <p:ext uri="{BB962C8B-B14F-4D97-AF65-F5344CB8AC3E}">
        <p14:creationId xmlns:p14="http://schemas.microsoft.com/office/powerpoint/2010/main" val="2248995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7859" y="1517502"/>
            <a:ext cx="9747284"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Add another pivot chart, this time for the pivot table that shows Revenue by Frame size. </a:t>
            </a:r>
          </a:p>
          <a:p>
            <a:pPr marL="285750" indent="-285750">
              <a:lnSpc>
                <a:spcPct val="150000"/>
              </a:lnSpc>
              <a:buFont typeface="Arial" panose="020B0604020202020204" pitchFamily="34" charset="0"/>
              <a:buChar char="•"/>
            </a:pPr>
            <a:r>
              <a:rPr lang="en-US" dirty="0"/>
              <a:t>Select a </a:t>
            </a:r>
            <a:r>
              <a:rPr lang="en-US" b="1" dirty="0">
                <a:solidFill>
                  <a:srgbClr val="FF0000"/>
                </a:solidFill>
              </a:rPr>
              <a:t>Bar</a:t>
            </a:r>
            <a:r>
              <a:rPr lang="en-US" dirty="0"/>
              <a:t> chart to display the order of sales by </a:t>
            </a:r>
            <a:r>
              <a:rPr lang="en-US" b="1" dirty="0">
                <a:solidFill>
                  <a:srgbClr val="FF0000"/>
                </a:solidFill>
              </a:rPr>
              <a:t>Frame size</a:t>
            </a:r>
            <a:r>
              <a:rPr lang="en-US" dirty="0"/>
              <a:t>. </a:t>
            </a:r>
          </a:p>
          <a:p>
            <a:pPr marL="285750" indent="-285750">
              <a:lnSpc>
                <a:spcPct val="150000"/>
              </a:lnSpc>
              <a:buFont typeface="Arial" panose="020B0604020202020204" pitchFamily="34" charset="0"/>
              <a:buChar char="•"/>
            </a:pPr>
            <a:r>
              <a:rPr lang="en-US" dirty="0"/>
              <a:t>Sort the Y axis to show the </a:t>
            </a:r>
            <a:r>
              <a:rPr lang="en-US" b="1" dirty="0">
                <a:solidFill>
                  <a:srgbClr val="FF0000"/>
                </a:solidFill>
              </a:rPr>
              <a:t>Frame size</a:t>
            </a:r>
            <a:r>
              <a:rPr lang="en-US" dirty="0"/>
              <a:t> that has the most sales on the top. </a:t>
            </a:r>
            <a:br>
              <a:rPr lang="en-US" dirty="0"/>
            </a:br>
            <a:r>
              <a:rPr lang="en-US" dirty="0"/>
              <a:t>Hint: Select the </a:t>
            </a:r>
            <a:r>
              <a:rPr lang="en-US" b="1" dirty="0">
                <a:solidFill>
                  <a:srgbClr val="FF0000"/>
                </a:solidFill>
              </a:rPr>
              <a:t>Categories in reverse order</a:t>
            </a:r>
            <a:r>
              <a:rPr lang="en-US" dirty="0"/>
              <a:t> option in the Axis Options.</a:t>
            </a:r>
            <a:endParaRPr lang="en-US" b="0" i="0" dirty="0">
              <a:solidFill>
                <a:srgbClr val="3C3C3C"/>
              </a:solidFill>
              <a:effectLst/>
              <a:latin typeface="Open Sans"/>
            </a:endParaRPr>
          </a:p>
        </p:txBody>
      </p:sp>
      <p:sp>
        <p:nvSpPr>
          <p:cNvPr id="4" name="Rectangle 3"/>
          <p:cNvSpPr/>
          <p:nvPr/>
        </p:nvSpPr>
        <p:spPr>
          <a:xfrm>
            <a:off x="189782" y="440254"/>
            <a:ext cx="3996608" cy="769441"/>
          </a:xfrm>
          <a:prstGeom prst="rect">
            <a:avLst/>
          </a:prstGeom>
          <a:noFill/>
        </p:spPr>
        <p:txBody>
          <a:bodyPr wrap="none" lIns="91440" tIns="45720" rIns="91440" bIns="45720">
            <a:spAutoFit/>
          </a:bodyPr>
          <a:lstStyle/>
          <a:p>
            <a:pPr algn="ctr"/>
            <a:r>
              <a:rPr lang="en-US" sz="4400" dirty="0">
                <a:ln w="0"/>
                <a:solidFill>
                  <a:srgbClr val="00B050"/>
                </a:solidFill>
                <a:effectLst>
                  <a:outerShdw blurRad="38100" dist="25400" dir="5400000" algn="ctr" rotWithShape="0">
                    <a:srgbClr val="6E747A">
                      <a:alpha val="43000"/>
                    </a:srgbClr>
                  </a:outerShdw>
                </a:effectLst>
              </a:rPr>
              <a:t>Lab </a:t>
            </a:r>
            <a:r>
              <a:rPr lang="en-US" sz="4400" dirty="0" err="1">
                <a:ln w="0"/>
                <a:solidFill>
                  <a:srgbClr val="00B050"/>
                </a:solidFill>
                <a:effectLst>
                  <a:outerShdw blurRad="38100" dist="25400" dir="5400000" algn="ctr" rotWithShape="0">
                    <a:srgbClr val="6E747A">
                      <a:alpha val="43000"/>
                    </a:srgbClr>
                  </a:outerShdw>
                </a:effectLst>
              </a:rPr>
              <a:t>3B</a:t>
            </a:r>
            <a:r>
              <a:rPr lang="en-US" sz="4400" dirty="0">
                <a:ln w="0"/>
                <a:solidFill>
                  <a:srgbClr val="00B050"/>
                </a:solidFill>
                <a:effectLst>
                  <a:outerShdw blurRad="38100" dist="25400" dir="5400000" algn="ctr" rotWithShape="0">
                    <a:srgbClr val="6E747A">
                      <a:alpha val="43000"/>
                    </a:srgbClr>
                  </a:outerShdw>
                </a:effectLst>
              </a:rPr>
              <a:t> – Step 4</a:t>
            </a:r>
          </a:p>
        </p:txBody>
      </p:sp>
    </p:spTree>
    <p:extLst>
      <p:ext uri="{BB962C8B-B14F-4D97-AF65-F5344CB8AC3E}">
        <p14:creationId xmlns:p14="http://schemas.microsoft.com/office/powerpoint/2010/main" val="773525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346" y="418006"/>
            <a:ext cx="2042547" cy="523220"/>
          </a:xfrm>
          <a:prstGeom prst="rect">
            <a:avLst/>
          </a:prstGeom>
        </p:spPr>
        <p:txBody>
          <a:bodyPr wrap="none">
            <a:spAutoFit/>
          </a:bodyPr>
          <a:lstStyle/>
          <a:p>
            <a:r>
              <a:rPr lang="en-US" sz="2800" b="1" i="0" u="sng" dirty="0">
                <a:solidFill>
                  <a:srgbClr val="C00000"/>
                </a:solidFill>
                <a:effectLst/>
                <a:latin typeface="Open Sans"/>
              </a:rPr>
              <a:t>Question </a:t>
            </a:r>
            <a:r>
              <a:rPr lang="en-US" sz="2800" b="1" u="sng" dirty="0">
                <a:solidFill>
                  <a:srgbClr val="C00000"/>
                </a:solidFill>
                <a:latin typeface="Open Sans"/>
              </a:rPr>
              <a:t>4</a:t>
            </a:r>
            <a:endParaRPr lang="en-US" sz="2800" b="1" i="0" u="sng" dirty="0">
              <a:solidFill>
                <a:srgbClr val="C00000"/>
              </a:solidFill>
              <a:effectLst/>
              <a:latin typeface="Open Sans"/>
            </a:endParaRPr>
          </a:p>
        </p:txBody>
      </p:sp>
      <p:sp>
        <p:nvSpPr>
          <p:cNvPr id="9" name="Rectangle 8"/>
          <p:cNvSpPr/>
          <p:nvPr/>
        </p:nvSpPr>
        <p:spPr>
          <a:xfrm>
            <a:off x="707360" y="3447759"/>
            <a:ext cx="6481152" cy="2246769"/>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B0F0"/>
                </a:solidFill>
                <a:latin typeface="Open Sans"/>
              </a:rPr>
              <a:t>A. 52.</a:t>
            </a:r>
            <a:endParaRPr lang="en-US" sz="2000" b="0" i="0" dirty="0">
              <a:solidFill>
                <a:srgbClr val="00B0F0"/>
              </a:solidFill>
              <a:effectLst/>
              <a:latin typeface="Open Sans"/>
            </a:endParaRPr>
          </a:p>
          <a:p>
            <a:endParaRPr lang="en-US" sz="2000" b="0" i="0" dirty="0">
              <a:solidFill>
                <a:srgbClr val="00B0F0"/>
              </a:solidFill>
              <a:effectLst/>
              <a:latin typeface="Open Sans"/>
            </a:endParaRPr>
          </a:p>
          <a:p>
            <a:pPr marL="285750" indent="-285750">
              <a:buFont typeface="Arial" panose="020B0604020202020204" pitchFamily="34" charset="0"/>
              <a:buChar char="•"/>
            </a:pPr>
            <a:r>
              <a:rPr lang="en-US" sz="2000" dirty="0">
                <a:solidFill>
                  <a:srgbClr val="00B0F0"/>
                </a:solidFill>
              </a:rPr>
              <a:t>B. 54</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C. 46</a:t>
            </a:r>
          </a:p>
          <a:p>
            <a:endParaRPr lang="en-US" sz="2000" dirty="0">
              <a:solidFill>
                <a:srgbClr val="00B0F0"/>
              </a:solidFill>
            </a:endParaRPr>
          </a:p>
          <a:p>
            <a:pPr marL="285750" indent="-285750">
              <a:buFont typeface="Arial" panose="020B0604020202020204" pitchFamily="34" charset="0"/>
              <a:buChar char="•"/>
            </a:pPr>
            <a:r>
              <a:rPr lang="en-US" sz="2000" dirty="0">
                <a:solidFill>
                  <a:srgbClr val="00B0F0"/>
                </a:solidFill>
              </a:rPr>
              <a:t>D. 48</a:t>
            </a:r>
          </a:p>
        </p:txBody>
      </p:sp>
      <p:pic>
        <p:nvPicPr>
          <p:cNvPr id="11" name="Picture 10"/>
          <p:cNvPicPr>
            <a:picLocks noChangeAspect="1"/>
          </p:cNvPicPr>
          <p:nvPr/>
        </p:nvPicPr>
        <p:blipFill>
          <a:blip r:embed="rId2"/>
          <a:stretch>
            <a:fillRect/>
          </a:stretch>
        </p:blipFill>
        <p:spPr>
          <a:xfrm>
            <a:off x="1666619" y="3819556"/>
            <a:ext cx="703613" cy="751587"/>
          </a:xfrm>
          <a:prstGeom prst="rect">
            <a:avLst/>
          </a:prstGeom>
        </p:spPr>
      </p:pic>
      <p:sp>
        <p:nvSpPr>
          <p:cNvPr id="8" name="Rectangle 7"/>
          <p:cNvSpPr/>
          <p:nvPr/>
        </p:nvSpPr>
        <p:spPr>
          <a:xfrm>
            <a:off x="9834557" y="392191"/>
            <a:ext cx="1880644" cy="769441"/>
          </a:xfrm>
          <a:prstGeom prst="rect">
            <a:avLst/>
          </a:prstGeom>
          <a:noFill/>
        </p:spPr>
        <p:txBody>
          <a:bodyPr wrap="non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Lab 3A</a:t>
            </a:r>
          </a:p>
        </p:txBody>
      </p:sp>
      <p:sp>
        <p:nvSpPr>
          <p:cNvPr id="6" name="Rectangle 3"/>
          <p:cNvSpPr>
            <a:spLocks noChangeArrowheads="1"/>
          </p:cNvSpPr>
          <p:nvPr/>
        </p:nvSpPr>
        <p:spPr bwMode="auto">
          <a:xfrm>
            <a:off x="841829" y="987729"/>
            <a:ext cx="9342622" cy="1200329"/>
          </a:xfrm>
          <a:prstGeom prst="rect">
            <a:avLst/>
          </a:prstGeom>
        </p:spPr>
        <p:txBody>
          <a:bodyPr wrap="square">
            <a:spAutoFit/>
          </a:bodyPr>
          <a:lstStyle/>
          <a:p>
            <a:r>
              <a:rPr lang="en-US" altLang="en-US" sz="2400" dirty="0"/>
              <a:t>In this chart, you can clearly see the order of sales by Frame size.</a:t>
            </a:r>
          </a:p>
          <a:p>
            <a:endParaRPr lang="en-US" altLang="en-US" sz="2400" dirty="0"/>
          </a:p>
          <a:p>
            <a:r>
              <a:rPr lang="en-US" altLang="en-US" sz="2400" dirty="0"/>
              <a:t>Which frame size sold the least?</a:t>
            </a:r>
          </a:p>
        </p:txBody>
      </p:sp>
    </p:spTree>
    <p:extLst>
      <p:ext uri="{BB962C8B-B14F-4D97-AF65-F5344CB8AC3E}">
        <p14:creationId xmlns:p14="http://schemas.microsoft.com/office/powerpoint/2010/main" val="3956596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69303" y="2786265"/>
            <a:ext cx="3675623"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Feed back </a:t>
            </a:r>
          </a:p>
        </p:txBody>
      </p:sp>
    </p:spTree>
    <p:extLst>
      <p:ext uri="{BB962C8B-B14F-4D97-AF65-F5344CB8AC3E}">
        <p14:creationId xmlns:p14="http://schemas.microsoft.com/office/powerpoint/2010/main" val="1479609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833</TotalTime>
  <Words>1893</Words>
  <Application>Microsoft Office PowerPoint</Application>
  <PresentationFormat>Widescreen</PresentationFormat>
  <Paragraphs>207</Paragraphs>
  <Slides>43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Open Sans</vt:lpstr>
      <vt:lpstr>Segoe UI</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Said F. Huda</dc:creator>
  <cp:lastModifiedBy>saidf</cp:lastModifiedBy>
  <cp:revision>95</cp:revision>
  <dcterms:created xsi:type="dcterms:W3CDTF">2016-11-14T07:59:55Z</dcterms:created>
  <dcterms:modified xsi:type="dcterms:W3CDTF">2022-08-08T08:27:36Z</dcterms:modified>
</cp:coreProperties>
</file>