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31"/>
  </p:notesMasterIdLst>
  <p:sldIdLst>
    <p:sldId id="281" r:id="rId2"/>
    <p:sldId id="256" r:id="rId3"/>
    <p:sldId id="264" r:id="rId4"/>
    <p:sldId id="270" r:id="rId5"/>
    <p:sldId id="272" r:id="rId6"/>
    <p:sldId id="419" r:id="rId7"/>
    <p:sldId id="420" r:id="rId8"/>
    <p:sldId id="421" r:id="rId9"/>
    <p:sldId id="276" r:id="rId10"/>
    <p:sldId id="257" r:id="rId11"/>
    <p:sldId id="274" r:id="rId12"/>
    <p:sldId id="423" r:id="rId13"/>
    <p:sldId id="436" r:id="rId14"/>
    <p:sldId id="275" r:id="rId15"/>
    <p:sldId id="289" r:id="rId16"/>
    <p:sldId id="424" r:id="rId17"/>
    <p:sldId id="427" r:id="rId18"/>
    <p:sldId id="431" r:id="rId19"/>
    <p:sldId id="432" r:id="rId20"/>
    <p:sldId id="433" r:id="rId21"/>
    <p:sldId id="434" r:id="rId22"/>
    <p:sldId id="435" r:id="rId23"/>
    <p:sldId id="439" r:id="rId24"/>
    <p:sldId id="437" r:id="rId25"/>
    <p:sldId id="438" r:id="rId26"/>
    <p:sldId id="416" r:id="rId27"/>
    <p:sldId id="290" r:id="rId28"/>
    <p:sldId id="273" r:id="rId29"/>
    <p:sldId id="41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276C"/>
    <a:srgbClr val="7B245B"/>
    <a:srgbClr val="669A7C"/>
    <a:srgbClr val="77A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96" autoAdjust="0"/>
  </p:normalViewPr>
  <p:slideViewPr>
    <p:cSldViewPr snapToGrid="0">
      <p:cViewPr>
        <p:scale>
          <a:sx n="96" d="100"/>
          <a:sy n="96" d="100"/>
        </p:scale>
        <p:origin x="72" y="-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6EEA2C-B15A-41FB-8CEE-35D5B1FD11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2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13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13" Type="http://schemas.openxmlformats.org/officeDocument/2006/relationships/image" Target="../media/image4.png"/><Relationship Id="rId18" Type="http://schemas.openxmlformats.org/officeDocument/2006/relationships/image" Target="../media/image22.png"/><Relationship Id="rId3" Type="http://schemas.openxmlformats.org/officeDocument/2006/relationships/image" Target="../media/image5.png"/><Relationship Id="rId21" Type="http://schemas.openxmlformats.org/officeDocument/2006/relationships/image" Target="../media/image2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" Type="http://schemas.openxmlformats.org/officeDocument/2006/relationships/image" Target="../media/image7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5.png"/><Relationship Id="rId19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Ultimate Guide to Creating Charts in Excel [2022] - onsite-training.com">
            <a:extLst>
              <a:ext uri="{FF2B5EF4-FFF2-40B4-BE49-F238E27FC236}">
                <a16:creationId xmlns:a16="http://schemas.microsoft.com/office/drawing/2014/main" id="{DF66D19D-1B7E-2586-25AD-A23D97980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>
                <a:solidFill>
                  <a:srgbClr val="FFFFFF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Introduction to Data Analysis Using Excel</a:t>
            </a:r>
            <a:endParaRPr lang="ar-EG" altLang="en-US" b="1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D10C6-F608-C653-0DC6-5F169B826107}"/>
              </a:ext>
            </a:extLst>
          </p:cNvPr>
          <p:cNvGrpSpPr/>
          <p:nvPr/>
        </p:nvGrpSpPr>
        <p:grpSpPr>
          <a:xfrm>
            <a:off x="301077" y="4630524"/>
            <a:ext cx="11372492" cy="2133600"/>
            <a:chOff x="301077" y="4630524"/>
            <a:chExt cx="11372492" cy="2133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1CCDAB2-A11A-8AC5-4AA4-E109FDA8F897}"/>
                </a:ext>
              </a:extLst>
            </p:cNvPr>
            <p:cNvSpPr/>
            <p:nvPr/>
          </p:nvSpPr>
          <p:spPr>
            <a:xfrm>
              <a:off x="605876" y="4630524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6205E55C-283D-4981-6648-092B7C6DB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552" y="5596970"/>
              <a:ext cx="2084032" cy="71554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BAF71B-0C2E-1834-06DE-71B4F0F84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4302" y="5465600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F0016F1C-6DF0-5941-3579-AB080D2A7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976" y="5802850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BA54C328-1168-104D-23FC-9A9B1699EC6A}"/>
                </a:ext>
              </a:extLst>
            </p:cNvPr>
            <p:cNvSpPr txBox="1">
              <a:spLocks/>
            </p:cNvSpPr>
            <p:nvPr/>
          </p:nvSpPr>
          <p:spPr>
            <a:xfrm>
              <a:off x="301077" y="4782924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6343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14" y="601683"/>
            <a:ext cx="4866311" cy="738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708892"/>
            <a:ext cx="1219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460DAD-E25F-0D2C-9648-53A0EE3EB797}"/>
              </a:ext>
            </a:extLst>
          </p:cNvPr>
          <p:cNvGrpSpPr/>
          <p:nvPr/>
        </p:nvGrpSpPr>
        <p:grpSpPr>
          <a:xfrm>
            <a:off x="301077" y="4630524"/>
            <a:ext cx="11372492" cy="2133600"/>
            <a:chOff x="301077" y="4630524"/>
            <a:chExt cx="11372492" cy="2133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5EA6131-FE65-356B-FF03-521C9B58846A}"/>
                </a:ext>
              </a:extLst>
            </p:cNvPr>
            <p:cNvSpPr/>
            <p:nvPr/>
          </p:nvSpPr>
          <p:spPr>
            <a:xfrm>
              <a:off x="605876" y="4630524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FF2A8C1B-5012-4CF3-8730-3FF34D333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552" y="5596970"/>
              <a:ext cx="2084032" cy="71554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FF4B71-593E-EB74-D02B-407DBF1F4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4302" y="5465600"/>
              <a:ext cx="1484300" cy="978289"/>
            </a:xfrm>
            <a:prstGeom prst="rect">
              <a:avLst/>
            </a:prstGeom>
          </p:spPr>
        </p:pic>
        <p:pic>
          <p:nvPicPr>
            <p:cNvPr id="12" name="Picture 11" descr="Logo, icon&#10;&#10;Description automatically generated">
              <a:extLst>
                <a:ext uri="{FF2B5EF4-FFF2-40B4-BE49-F238E27FC236}">
                  <a16:creationId xmlns:a16="http://schemas.microsoft.com/office/drawing/2014/main" id="{E415D590-099E-BC61-7B8D-4C6F11E96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976" y="5802850"/>
              <a:ext cx="420827" cy="365694"/>
            </a:xfrm>
            <a:prstGeom prst="rect">
              <a:avLst/>
            </a:prstGeom>
          </p:spPr>
        </p:pic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DC17C374-BCD3-8E5D-E58B-2E8806A7F72B}"/>
                </a:ext>
              </a:extLst>
            </p:cNvPr>
            <p:cNvSpPr txBox="1">
              <a:spLocks/>
            </p:cNvSpPr>
            <p:nvPr/>
          </p:nvSpPr>
          <p:spPr>
            <a:xfrm>
              <a:off x="301077" y="4782924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825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10783406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Quality Manager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Certif.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00408EF-977D-1A2A-A80C-729EDE58E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68" y="1867887"/>
            <a:ext cx="7154273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04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Quality Manager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422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358251" y="3126754"/>
            <a:ext cx="121867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333590" y="563137"/>
            <a:ext cx="1282018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141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12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125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75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2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75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75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45" grpId="0" animBg="1"/>
      <p:bldP spid="62" grpId="0" animBg="1"/>
      <p:bldP spid="63" grpId="0"/>
      <p:bldP spid="54" grpId="0" animBg="1"/>
      <p:bldP spid="5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009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2072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/>
      <p:bldP spid="99" grpId="0" animBg="1"/>
      <p:bldP spid="100" grpId="0"/>
      <p:bldP spid="93" grpId="0" animBg="1"/>
      <p:bldP spid="94" grpId="0"/>
      <p:bldP spid="84" grpId="0" animBg="1"/>
      <p:bldP spid="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5056122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44EEE94-163C-0330-0141-80D1747EAC1F}"/>
              </a:ext>
            </a:extLst>
          </p:cNvPr>
          <p:cNvGrpSpPr/>
          <p:nvPr/>
        </p:nvGrpSpPr>
        <p:grpSpPr>
          <a:xfrm>
            <a:off x="-169142" y="358526"/>
            <a:ext cx="8759227" cy="6467966"/>
            <a:chOff x="-169142" y="358526"/>
            <a:chExt cx="8759227" cy="646796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62B0569D-8698-D6EA-E0D9-309C7BCD9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165557" y="358526"/>
              <a:ext cx="8755642" cy="5073041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8D7404E0-236D-2C90-FFBB-44CC15561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169142" y="5417960"/>
              <a:ext cx="8755642" cy="1408532"/>
            </a:xfrm>
            <a:prstGeom prst="rect">
              <a:avLst/>
            </a:prstGeom>
          </p:spPr>
        </p:pic>
        <p:sp>
          <p:nvSpPr>
            <p:cNvPr id="122" name="TextBox 3">
              <a:extLst>
                <a:ext uri="{FF2B5EF4-FFF2-40B4-BE49-F238E27FC236}">
                  <a16:creationId xmlns:a16="http://schemas.microsoft.com/office/drawing/2014/main" id="{36B50548-EA22-536C-1CD0-D0FBDA98B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402" y="6303528"/>
              <a:ext cx="34163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Said_fawzy@hotmail.com</a:t>
              </a:r>
            </a:p>
          </p:txBody>
        </p:sp>
        <p:sp>
          <p:nvSpPr>
            <p:cNvPr id="123" name="TextBox 12">
              <a:extLst>
                <a:ext uri="{FF2B5EF4-FFF2-40B4-BE49-F238E27FC236}">
                  <a16:creationId xmlns:a16="http://schemas.microsoft.com/office/drawing/2014/main" id="{1E25516C-C51B-62E4-C4D1-A3F138ED8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880" y="5329112"/>
              <a:ext cx="339067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3600" b="1" dirty="0">
                  <a:solidFill>
                    <a:schemeClr val="bg1"/>
                  </a:solidFill>
                </a:rPr>
                <a:t>0122 744 99 87</a:t>
              </a:r>
              <a:endParaRPr lang="ar-EG" altLang="en-US" sz="3600" b="1" dirty="0">
                <a:solidFill>
                  <a:schemeClr val="bg1"/>
                </a:solidFill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6E3C301-C4DB-0E32-DDC8-795DBE9E5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04552" y="5354390"/>
              <a:ext cx="698962" cy="629725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25E357FF-2015-ED86-DE47-4F483CDAC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3350" y="6100303"/>
              <a:ext cx="714089" cy="609784"/>
            </a:xfrm>
            <a:prstGeom prst="rect">
              <a:avLst/>
            </a:prstGeom>
          </p:spPr>
        </p:pic>
        <p:sp>
          <p:nvSpPr>
            <p:cNvPr id="126" name="TextBox 3">
              <a:extLst>
                <a:ext uri="{FF2B5EF4-FFF2-40B4-BE49-F238E27FC236}">
                  <a16:creationId xmlns:a16="http://schemas.microsoft.com/office/drawing/2014/main" id="{039B0F82-3793-AEAD-7A91-706B06105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3970" y="6012868"/>
              <a:ext cx="34110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Saidfawzy@arabcont.com</a:t>
              </a:r>
            </a:p>
          </p:txBody>
        </p: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4051F904-36B9-48D6-1BC4-4E8F8BABD7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42240" y="390351"/>
            <a:ext cx="1991003" cy="2495898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6C4387C1-96D5-8ACF-CB34-F0B67B1F9957}"/>
              </a:ext>
            </a:extLst>
          </p:cNvPr>
          <p:cNvGrpSpPr/>
          <p:nvPr/>
        </p:nvGrpSpPr>
        <p:grpSpPr>
          <a:xfrm>
            <a:off x="2189435" y="418942"/>
            <a:ext cx="6243684" cy="2463354"/>
            <a:chOff x="3143249" y="254815"/>
            <a:chExt cx="8264025" cy="339329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FD7C94B-4E9B-DA88-927B-C0581E9D4285}"/>
                </a:ext>
              </a:extLst>
            </p:cNvPr>
            <p:cNvSpPr/>
            <p:nvPr/>
          </p:nvSpPr>
          <p:spPr>
            <a:xfrm>
              <a:off x="6844694" y="931184"/>
              <a:ext cx="4562580" cy="27169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D5B2087-3826-E4CB-E7FB-28502B4D7CB8}"/>
                </a:ext>
              </a:extLst>
            </p:cNvPr>
            <p:cNvGrpSpPr/>
            <p:nvPr/>
          </p:nvGrpSpPr>
          <p:grpSpPr>
            <a:xfrm>
              <a:off x="3143249" y="254815"/>
              <a:ext cx="8264025" cy="3393299"/>
              <a:chOff x="3143249" y="254815"/>
              <a:chExt cx="8264025" cy="3393299"/>
            </a:xfrm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E7322D9-2568-CC69-C513-30FDAA9C8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43249" y="891466"/>
                <a:ext cx="3980957" cy="1457846"/>
              </a:xfrm>
              <a:prstGeom prst="rect">
                <a:avLst/>
              </a:prstGeom>
            </p:spPr>
          </p:pic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F83034C1-5618-333E-A61C-6FEEE8897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43250" y="2236772"/>
                <a:ext cx="3701444" cy="1411342"/>
              </a:xfrm>
              <a:prstGeom prst="rect">
                <a:avLst/>
              </a:prstGeom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1731C3C4-EC7E-F587-E9AC-D4964B00E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58984" y="891466"/>
                <a:ext cx="3625233" cy="1612417"/>
              </a:xfrm>
              <a:prstGeom prst="rect">
                <a:avLst/>
              </a:prstGeom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045C91D-89EF-C674-F2C8-22BA158EE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43250" y="254815"/>
                <a:ext cx="8264024" cy="6763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50944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19236" y="2364333"/>
            <a:ext cx="686816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Prerequisites</a:t>
            </a:r>
          </a:p>
        </p:txBody>
      </p:sp>
    </p:spTree>
    <p:extLst>
      <p:ext uri="{BB962C8B-B14F-4D97-AF65-F5344CB8AC3E}">
        <p14:creationId xmlns:p14="http://schemas.microsoft.com/office/powerpoint/2010/main" val="385480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5433" y="910294"/>
            <a:ext cx="10074235" cy="48789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Excel Basics.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Advance Excel.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Charts Using Excel. 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 to Data Analysis. </a:t>
            </a:r>
          </a:p>
          <a:p>
            <a:pPr>
              <a:lnSpc>
                <a:spcPct val="200000"/>
              </a:lnSpc>
            </a:pPr>
            <a:endParaRPr lang="en-US" sz="3200" b="1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Ultimate Guide to Creating Charts in Excel [2022] - onsite-training.com">
            <a:extLst>
              <a:ext uri="{FF2B5EF4-FFF2-40B4-BE49-F238E27FC236}">
                <a16:creationId xmlns:a16="http://schemas.microsoft.com/office/drawing/2014/main" id="{275E9020-712F-B5FB-B227-1A5D05007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02388" y="3562350"/>
            <a:ext cx="4718161" cy="265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85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0399" y="2364333"/>
            <a:ext cx="93458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Course Outline </a:t>
            </a:r>
          </a:p>
        </p:txBody>
      </p:sp>
    </p:spTree>
    <p:extLst>
      <p:ext uri="{BB962C8B-B14F-4D97-AF65-F5344CB8AC3E}">
        <p14:creationId xmlns:p14="http://schemas.microsoft.com/office/powerpoint/2010/main" val="346341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3491" y="430791"/>
            <a:ext cx="10074235" cy="5477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00: Excel Charts Basics</a:t>
            </a:r>
            <a:endParaRPr lang="ar-EG" sz="3600" b="1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01: Introduction to Reporting in Excel </a:t>
            </a:r>
          </a:p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02: Excel Tables </a:t>
            </a:r>
          </a:p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03: Basic Pivot Tables </a:t>
            </a:r>
          </a:p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04: Dashboards </a:t>
            </a:r>
          </a:p>
        </p:txBody>
      </p:sp>
    </p:spTree>
    <p:extLst>
      <p:ext uri="{BB962C8B-B14F-4D97-AF65-F5344CB8AC3E}">
        <p14:creationId xmlns:p14="http://schemas.microsoft.com/office/powerpoint/2010/main" val="203066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3834" y="1142594"/>
            <a:ext cx="10902644" cy="38940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05: Profitability Analysis and Finding Anomalies 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06: Comparing Year over Year in Pivot Tables 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07: Reporting Hierarchical Data 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08: </a:t>
            </a:r>
            <a:r>
              <a:rPr lang="en-US" sz="24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 to multi-table pivot tables and the data model </a:t>
            </a:r>
            <a:endParaRPr lang="en-US" sz="3200" b="1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599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>
          <a:xfrm>
            <a:off x="945917" y="152236"/>
            <a:ext cx="8229600" cy="1143000"/>
          </a:xfrm>
        </p:spPr>
        <p:txBody>
          <a:bodyPr/>
          <a:lstStyle/>
          <a:p>
            <a:pPr algn="l" rtl="0" eaLnBrk="1" hangingPunct="1"/>
            <a:r>
              <a:rPr lang="en-US" altLang="en-US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Training</a:t>
            </a:r>
            <a:endParaRPr lang="ar-EG" altLang="en-US" sz="5400" b="1" dirty="0">
              <a:solidFill>
                <a:srgbClr val="FF0000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36807" y="4467226"/>
            <a:ext cx="11097993" cy="2390775"/>
            <a:chOff x="-1117537" y="4467218"/>
            <a:chExt cx="10032091" cy="2390782"/>
          </a:xfrm>
        </p:grpSpPr>
        <p:pic>
          <p:nvPicPr>
            <p:cNvPr id="9226" name="Picture 3" descr="C:\Program Files\Microsoft Office\MEDIA\CAGCAT10\j0240695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9322" y="4467218"/>
              <a:ext cx="2985232" cy="2390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-1117537" y="5409568"/>
              <a:ext cx="5754847" cy="7078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4000" dirty="0"/>
                <a:t>Let me do it I will understand.</a:t>
              </a:r>
              <a:endParaRPr lang="ar-EG" sz="4000" dirty="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57200" y="2500313"/>
            <a:ext cx="11277600" cy="2565400"/>
            <a:chOff x="500034" y="2500306"/>
            <a:chExt cx="8056582" cy="2565817"/>
          </a:xfrm>
        </p:grpSpPr>
        <p:sp>
          <p:nvSpPr>
            <p:cNvPr id="8" name="Rectangle 7"/>
            <p:cNvSpPr/>
            <p:nvPr/>
          </p:nvSpPr>
          <p:spPr>
            <a:xfrm>
              <a:off x="4198918" y="3009183"/>
              <a:ext cx="4357698" cy="120034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3600" dirty="0"/>
                <a:t>Show me I might remember something.</a:t>
              </a:r>
            </a:p>
          </p:txBody>
        </p:sp>
        <p:pic>
          <p:nvPicPr>
            <p:cNvPr id="9225" name="Picture 4" descr="C:\Program Files\Microsoft Office\MEDIA\CAGCAT10\j030125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34" y="2500306"/>
              <a:ext cx="3000396" cy="2565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563040" y="719654"/>
            <a:ext cx="8171760" cy="2006600"/>
            <a:chOff x="1833708" y="743989"/>
            <a:chExt cx="6953134" cy="2007267"/>
          </a:xfrm>
        </p:grpSpPr>
        <p:sp>
          <p:nvSpPr>
            <p:cNvPr id="7" name="Rectangle 6"/>
            <p:cNvSpPr/>
            <p:nvPr/>
          </p:nvSpPr>
          <p:spPr>
            <a:xfrm>
              <a:off x="1833708" y="1069307"/>
              <a:ext cx="3258047" cy="6465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600" dirty="0"/>
                <a:t>Tell me I will forget.</a:t>
              </a:r>
            </a:p>
          </p:txBody>
        </p:sp>
        <p:pic>
          <p:nvPicPr>
            <p:cNvPr id="9223" name="Picture 5" descr="C:\Users\saidfawzy.TENDERS\AppData\Local\Microsoft\Windows\Temporary Internet Files\Content.IE5\XG5JW5O4\MPj04422270000[1]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743989"/>
              <a:ext cx="3071834" cy="200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628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610AD-FBD4-E108-36A5-88CBAA66AC5C}"/>
              </a:ext>
            </a:extLst>
          </p:cNvPr>
          <p:cNvSpPr/>
          <p:nvPr/>
        </p:nvSpPr>
        <p:spPr>
          <a:xfrm>
            <a:off x="440647" y="256400"/>
            <a:ext cx="766722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How would we train?</a:t>
            </a:r>
          </a:p>
        </p:txBody>
      </p:sp>
      <p:pic>
        <p:nvPicPr>
          <p:cNvPr id="1026" name="Picture 2" descr="Demo Stock Illustrations – 5,647 Demo Stock Illustrations, Vectors &amp;  Clipart - Dreamstime">
            <a:extLst>
              <a:ext uri="{FF2B5EF4-FFF2-40B4-BE49-F238E27FC236}">
                <a16:creationId xmlns:a16="http://schemas.microsoft.com/office/drawing/2014/main" id="{F04BE3F1-CAC6-9B73-E9A9-AA1040970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47" y="2219324"/>
            <a:ext cx="2846606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iz Stock Illustrations – 90,285 Quiz Stock Illustrations, Vectors &amp;  Clipart - Dreamstime">
            <a:extLst>
              <a:ext uri="{FF2B5EF4-FFF2-40B4-BE49-F238E27FC236}">
                <a16:creationId xmlns:a16="http://schemas.microsoft.com/office/drawing/2014/main" id="{B1C1A4D9-1325-64A4-02DA-ACCC4AE06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2605231"/>
            <a:ext cx="4419600" cy="206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0B8FEE3-00E0-D021-E3FE-1D1B3195994C}"/>
              </a:ext>
            </a:extLst>
          </p:cNvPr>
          <p:cNvGrpSpPr/>
          <p:nvPr/>
        </p:nvGrpSpPr>
        <p:grpSpPr>
          <a:xfrm>
            <a:off x="8733297" y="1485900"/>
            <a:ext cx="2846607" cy="3951333"/>
            <a:chOff x="8733297" y="1485900"/>
            <a:chExt cx="2846607" cy="3951333"/>
          </a:xfrm>
        </p:grpSpPr>
        <p:pic>
          <p:nvPicPr>
            <p:cNvPr id="1030" name="Picture 6" descr="What is a computer program? - BBC Bitesize">
              <a:extLst>
                <a:ext uri="{FF2B5EF4-FFF2-40B4-BE49-F238E27FC236}">
                  <a16:creationId xmlns:a16="http://schemas.microsoft.com/office/drawing/2014/main" id="{E1406204-8450-172D-32EA-7C0CBF372C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33297" y="1485900"/>
              <a:ext cx="2846607" cy="2846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AA2F19-F1F6-490C-0B9C-4F972F6DC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7325" y="4332507"/>
              <a:ext cx="2133787" cy="1104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698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06" y="1362068"/>
            <a:ext cx="2449629" cy="71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57342"/>
            <a:ext cx="2419688" cy="714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818" y="2486079"/>
            <a:ext cx="2429214" cy="590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818" y="3045585"/>
            <a:ext cx="2314898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3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556" y="626206"/>
            <a:ext cx="3241437" cy="945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57342"/>
            <a:ext cx="2419688" cy="714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818" y="2486079"/>
            <a:ext cx="2429214" cy="590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818" y="3045585"/>
            <a:ext cx="2314898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2E9980-A5A4-C52B-7AC1-43B26BBBD2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0228" y="2076543"/>
            <a:ext cx="5363071" cy="294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01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55" y="1324312"/>
            <a:ext cx="2120294" cy="618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148" y="1409700"/>
            <a:ext cx="3533657" cy="1043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818" y="2486079"/>
            <a:ext cx="2429214" cy="590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818" y="3045585"/>
            <a:ext cx="2314898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B0E30E-9184-0A92-BA59-FCD3152309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6769" y="2058173"/>
            <a:ext cx="3037413" cy="405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5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55" y="1324312"/>
            <a:ext cx="2120294" cy="618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75168"/>
            <a:ext cx="2094381" cy="618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467" y="1942731"/>
            <a:ext cx="4535935" cy="11028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818" y="3045585"/>
            <a:ext cx="2314898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A9C39C-025F-B5D7-01B2-A421B90051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7434" y="2670714"/>
            <a:ext cx="4830353" cy="35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67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55" y="1324312"/>
            <a:ext cx="2120294" cy="618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75168"/>
            <a:ext cx="2094381" cy="618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235" y="2385032"/>
            <a:ext cx="2671933" cy="6496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622" y="2562225"/>
            <a:ext cx="4138940" cy="9708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08986A2-F86F-E324-7B47-D04B1D831A46}"/>
              </a:ext>
            </a:extLst>
          </p:cNvPr>
          <p:cNvGrpSpPr/>
          <p:nvPr/>
        </p:nvGrpSpPr>
        <p:grpSpPr>
          <a:xfrm rot="20697681">
            <a:off x="6892357" y="550722"/>
            <a:ext cx="3856619" cy="4967911"/>
            <a:chOff x="6477000" y="685800"/>
            <a:chExt cx="4400550" cy="536257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AB8DDF9-F6CE-0279-3430-5C9E8A51E1C1}"/>
                </a:ext>
              </a:extLst>
            </p:cNvPr>
            <p:cNvGrpSpPr/>
            <p:nvPr/>
          </p:nvGrpSpPr>
          <p:grpSpPr>
            <a:xfrm>
              <a:off x="6477000" y="685800"/>
              <a:ext cx="4400550" cy="5362575"/>
              <a:chOff x="6477000" y="685800"/>
              <a:chExt cx="4400550" cy="536257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9A24F0-1D50-4482-32AC-2F41A2876B05}"/>
                  </a:ext>
                </a:extLst>
              </p:cNvPr>
              <p:cNvSpPr/>
              <p:nvPr/>
            </p:nvSpPr>
            <p:spPr>
              <a:xfrm>
                <a:off x="6477000" y="685800"/>
                <a:ext cx="4400550" cy="536257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9A196D8-17E4-524E-DCE2-834814590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4026" y="788302"/>
                <a:ext cx="4051914" cy="3638592"/>
              </a:xfrm>
              <a:prstGeom prst="rect">
                <a:avLst/>
              </a:prstGeom>
            </p:spPr>
          </p:pic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AE67FC-9A9C-0A89-C2FB-F84BC195ECD2}"/>
                </a:ext>
              </a:extLst>
            </p:cNvPr>
            <p:cNvSpPr/>
            <p:nvPr/>
          </p:nvSpPr>
          <p:spPr>
            <a:xfrm>
              <a:off x="7782923" y="4211298"/>
              <a:ext cx="1788702" cy="4983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Said Fawzy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48C9A13E-0473-DF15-FD4E-599BDDEBE9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596257">
            <a:off x="793493" y="1585811"/>
            <a:ext cx="4004972" cy="467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54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55" y="1324312"/>
            <a:ext cx="2120294" cy="618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75168"/>
            <a:ext cx="2094381" cy="618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235" y="2385032"/>
            <a:ext cx="2671933" cy="6496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235" y="2918063"/>
            <a:ext cx="2892255" cy="6784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5655946" cy="12907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62FE13-C69D-50E8-DB7B-662C9BE5CB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9580" y="1076543"/>
            <a:ext cx="4005185" cy="446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61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DBB086-8AF9-408F-2512-7503EEA31A1E}"/>
              </a:ext>
            </a:extLst>
          </p:cNvPr>
          <p:cNvSpPr/>
          <p:nvPr/>
        </p:nvSpPr>
        <p:spPr>
          <a:xfrm>
            <a:off x="2669148" y="2263972"/>
            <a:ext cx="7435241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What Next?</a:t>
            </a:r>
          </a:p>
        </p:txBody>
      </p:sp>
    </p:spTree>
    <p:extLst>
      <p:ext uri="{BB962C8B-B14F-4D97-AF65-F5344CB8AC3E}">
        <p14:creationId xmlns:p14="http://schemas.microsoft.com/office/powerpoint/2010/main" val="67210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base Fundamentals - Software Testing">
            <a:extLst>
              <a:ext uri="{FF2B5EF4-FFF2-40B4-BE49-F238E27FC236}">
                <a16:creationId xmlns:a16="http://schemas.microsoft.com/office/drawing/2014/main" id="{58B6E285-3BA1-8BB5-006D-C817BCCB4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833" y="933731"/>
            <a:ext cx="3113980" cy="1353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5A0259-B4A9-D8BD-F395-3AFFFFA2B6D1}"/>
              </a:ext>
            </a:extLst>
          </p:cNvPr>
          <p:cNvSpPr/>
          <p:nvPr/>
        </p:nvSpPr>
        <p:spPr>
          <a:xfrm>
            <a:off x="7593252" y="223386"/>
            <a:ext cx="372493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Database Track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D4E3D6-349A-0B76-1C2B-4A139C3F96BC}"/>
              </a:ext>
            </a:extLst>
          </p:cNvPr>
          <p:cNvSpPr/>
          <p:nvPr/>
        </p:nvSpPr>
        <p:spPr>
          <a:xfrm>
            <a:off x="818813" y="311494"/>
            <a:ext cx="466550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5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Microsoft Excel Track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8080D8-D360-6DE1-5644-B90378EC8A65}"/>
              </a:ext>
            </a:extLst>
          </p:cNvPr>
          <p:cNvGrpSpPr/>
          <p:nvPr/>
        </p:nvGrpSpPr>
        <p:grpSpPr>
          <a:xfrm>
            <a:off x="1103972" y="956821"/>
            <a:ext cx="3299063" cy="1290434"/>
            <a:chOff x="1876749" y="1888524"/>
            <a:chExt cx="3724521" cy="1764195"/>
          </a:xfrm>
        </p:grpSpPr>
        <p:pic>
          <p:nvPicPr>
            <p:cNvPr id="4" name="Picture 2" descr="How to Expand Your Abilities in Microsoft Excel">
              <a:extLst>
                <a:ext uri="{FF2B5EF4-FFF2-40B4-BE49-F238E27FC236}">
                  <a16:creationId xmlns:a16="http://schemas.microsoft.com/office/drawing/2014/main" id="{FA91A2C8-DD1F-C370-8B7B-88F0D042D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749" y="1888524"/>
              <a:ext cx="1839407" cy="1764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1B1D6B-A571-A799-ABCB-2D41C04CBE06}"/>
                </a:ext>
              </a:extLst>
            </p:cNvPr>
            <p:cNvSpPr/>
            <p:nvPr/>
          </p:nvSpPr>
          <p:spPr>
            <a:xfrm>
              <a:off x="3336470" y="3030172"/>
              <a:ext cx="2264800" cy="40011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0" cap="none" spc="0" dirty="0">
                  <a:ln w="0"/>
                  <a:solidFill>
                    <a:srgbClr val="669A7C"/>
                  </a:solidFill>
                </a:rPr>
                <a:t>Basics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512DB4-4908-CFCD-AD4C-3D305561303C}"/>
              </a:ext>
            </a:extLst>
          </p:cNvPr>
          <p:cNvGrpSpPr/>
          <p:nvPr/>
        </p:nvGrpSpPr>
        <p:grpSpPr>
          <a:xfrm>
            <a:off x="1103972" y="2111679"/>
            <a:ext cx="3777564" cy="1581432"/>
            <a:chOff x="1876750" y="1970478"/>
            <a:chExt cx="3608842" cy="1448825"/>
          </a:xfrm>
        </p:grpSpPr>
        <p:pic>
          <p:nvPicPr>
            <p:cNvPr id="20" name="Picture 2" descr="How to Expand Your Abilities in Microsoft Excel">
              <a:extLst>
                <a:ext uri="{FF2B5EF4-FFF2-40B4-BE49-F238E27FC236}">
                  <a16:creationId xmlns:a16="http://schemas.microsoft.com/office/drawing/2014/main" id="{93C7311F-4BB7-EEC6-C194-3856111C78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750" y="1970478"/>
              <a:ext cx="1654535" cy="1288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E601335-9BD5-F4D2-0E2E-B82360208FEC}"/>
                </a:ext>
              </a:extLst>
            </p:cNvPr>
            <p:cNvSpPr/>
            <p:nvPr/>
          </p:nvSpPr>
          <p:spPr>
            <a:xfrm>
              <a:off x="3220792" y="2862007"/>
              <a:ext cx="2264800" cy="5572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0" cap="none" spc="0" dirty="0">
                  <a:ln w="0"/>
                  <a:solidFill>
                    <a:srgbClr val="669A7C"/>
                  </a:solidFill>
                </a:rPr>
                <a:t>Advanced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259B1A-7BCB-780A-606C-C0D68EB766A2}"/>
              </a:ext>
            </a:extLst>
          </p:cNvPr>
          <p:cNvGrpSpPr/>
          <p:nvPr/>
        </p:nvGrpSpPr>
        <p:grpSpPr>
          <a:xfrm>
            <a:off x="1107964" y="3201199"/>
            <a:ext cx="3533762" cy="1553350"/>
            <a:chOff x="1876749" y="1888525"/>
            <a:chExt cx="3732775" cy="1513838"/>
          </a:xfrm>
        </p:grpSpPr>
        <p:pic>
          <p:nvPicPr>
            <p:cNvPr id="24" name="Picture 2" descr="How to Expand Your Abilities in Microsoft Excel">
              <a:extLst>
                <a:ext uri="{FF2B5EF4-FFF2-40B4-BE49-F238E27FC236}">
                  <a16:creationId xmlns:a16="http://schemas.microsoft.com/office/drawing/2014/main" id="{8844DFE9-12B6-A35D-2C51-0DBB41C338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749" y="1888525"/>
              <a:ext cx="1866857" cy="1454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E6B8A3A-8F12-1AF8-6132-C69B3A359D23}"/>
                </a:ext>
              </a:extLst>
            </p:cNvPr>
            <p:cNvSpPr/>
            <p:nvPr/>
          </p:nvSpPr>
          <p:spPr>
            <a:xfrm>
              <a:off x="3344724" y="2845067"/>
              <a:ext cx="2264800" cy="5572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dirty="0">
                  <a:ln w="0"/>
                  <a:solidFill>
                    <a:srgbClr val="669A7C"/>
                  </a:solidFill>
                </a:rPr>
                <a:t>Charts</a:t>
              </a:r>
              <a:endParaRPr lang="en-US" sz="2000" b="0" cap="none" spc="0" dirty="0">
                <a:ln w="0"/>
                <a:solidFill>
                  <a:srgbClr val="669A7C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413BD3E-6F97-263B-EE96-56BF38BA6D02}"/>
              </a:ext>
            </a:extLst>
          </p:cNvPr>
          <p:cNvGrpSpPr/>
          <p:nvPr/>
        </p:nvGrpSpPr>
        <p:grpSpPr>
          <a:xfrm>
            <a:off x="1147392" y="4383129"/>
            <a:ext cx="3533762" cy="1492168"/>
            <a:chOff x="1876749" y="1888525"/>
            <a:chExt cx="3732775" cy="1454212"/>
          </a:xfrm>
        </p:grpSpPr>
        <p:pic>
          <p:nvPicPr>
            <p:cNvPr id="22" name="Picture 2" descr="How to Expand Your Abilities in Microsoft Excel">
              <a:extLst>
                <a:ext uri="{FF2B5EF4-FFF2-40B4-BE49-F238E27FC236}">
                  <a16:creationId xmlns:a16="http://schemas.microsoft.com/office/drawing/2014/main" id="{ECCBA03F-B868-19FB-6B39-979DA3AD4A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749" y="1888525"/>
              <a:ext cx="1866857" cy="1454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92AC8BA-7C63-045F-9EA8-A86DE0E0AF61}"/>
                </a:ext>
              </a:extLst>
            </p:cNvPr>
            <p:cNvSpPr/>
            <p:nvPr/>
          </p:nvSpPr>
          <p:spPr>
            <a:xfrm>
              <a:off x="3344724" y="2845067"/>
              <a:ext cx="2264800" cy="38993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dirty="0">
                  <a:ln w="0"/>
                  <a:solidFill>
                    <a:srgbClr val="669A7C"/>
                  </a:solidFill>
                </a:rPr>
                <a:t>Dynamic Arrays</a:t>
              </a:r>
              <a:endParaRPr lang="en-US" sz="2000" b="0" cap="none" spc="0" dirty="0">
                <a:ln w="0"/>
                <a:solidFill>
                  <a:srgbClr val="669A7C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693BD6-C9C8-E1FB-6F11-64D05A1F144B}"/>
              </a:ext>
            </a:extLst>
          </p:cNvPr>
          <p:cNvGrpSpPr/>
          <p:nvPr/>
        </p:nvGrpSpPr>
        <p:grpSpPr>
          <a:xfrm>
            <a:off x="7955833" y="2229308"/>
            <a:ext cx="3310579" cy="1278933"/>
            <a:chOff x="7955833" y="2229308"/>
            <a:chExt cx="3310579" cy="127893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0EE028B-E5A3-6D9B-2333-EA476EEB39AE}"/>
                </a:ext>
              </a:extLst>
            </p:cNvPr>
            <p:cNvGrpSpPr/>
            <p:nvPr/>
          </p:nvGrpSpPr>
          <p:grpSpPr>
            <a:xfrm>
              <a:off x="7955833" y="2333806"/>
              <a:ext cx="3310579" cy="1174435"/>
              <a:chOff x="7476345" y="3070032"/>
              <a:chExt cx="3917110" cy="146788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894D01B-BA55-0FB0-766A-ABF5E909F436}"/>
                  </a:ext>
                </a:extLst>
              </p:cNvPr>
              <p:cNvGrpSpPr/>
              <p:nvPr/>
            </p:nvGrpSpPr>
            <p:grpSpPr>
              <a:xfrm>
                <a:off x="7476345" y="3070032"/>
                <a:ext cx="3917110" cy="1460819"/>
                <a:chOff x="4984594" y="2657437"/>
                <a:chExt cx="6694449" cy="3345481"/>
              </a:xfrm>
            </p:grpSpPr>
            <p:pic>
              <p:nvPicPr>
                <p:cNvPr id="1028" name="Picture 4" descr="10 Best Microsoft Access Courses to Take in 2023 — Class Central">
                  <a:extLst>
                    <a:ext uri="{FF2B5EF4-FFF2-40B4-BE49-F238E27FC236}">
                      <a16:creationId xmlns:a16="http://schemas.microsoft.com/office/drawing/2014/main" id="{AF8F56C6-F4E5-DB48-3CB6-6119C7A5D98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84594" y="2657437"/>
                  <a:ext cx="6694449" cy="33454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1C689B0B-3815-D211-2E10-3602A03D32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51218" y="3323063"/>
                  <a:ext cx="2468682" cy="434897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6718341D-6D5B-38E0-7ECD-4E8C4DA43C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84594" y="5568021"/>
                  <a:ext cx="2468682" cy="434897"/>
                </a:xfrm>
                <a:prstGeom prst="rect">
                  <a:avLst/>
                </a:prstGeom>
              </p:spPr>
            </p:pic>
          </p:grp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BD8EB84-2AA8-BE45-0B64-45EABCF58B0D}"/>
                  </a:ext>
                </a:extLst>
              </p:cNvPr>
              <p:cNvSpPr/>
              <p:nvPr/>
            </p:nvSpPr>
            <p:spPr>
              <a:xfrm>
                <a:off x="8606547" y="3883964"/>
                <a:ext cx="1156678" cy="65395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1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Part I</a:t>
                </a: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33A7104-BB7B-49A9-111E-A8A903C161C0}"/>
                </a:ext>
              </a:extLst>
            </p:cNvPr>
            <p:cNvSpPr/>
            <p:nvPr/>
          </p:nvSpPr>
          <p:spPr>
            <a:xfrm>
              <a:off x="9842221" y="2229308"/>
              <a:ext cx="106792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0" cap="none" spc="0" dirty="0">
                  <a:ln w="0"/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Basics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26FE103-FE5B-51F6-2500-2409EEC9F324}"/>
              </a:ext>
            </a:extLst>
          </p:cNvPr>
          <p:cNvGrpSpPr/>
          <p:nvPr/>
        </p:nvGrpSpPr>
        <p:grpSpPr>
          <a:xfrm>
            <a:off x="7988779" y="3514555"/>
            <a:ext cx="3453435" cy="1463202"/>
            <a:chOff x="7988779" y="3514555"/>
            <a:chExt cx="3453435" cy="146320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8BC54E8-1C0C-9BB3-604C-4EE574444728}"/>
                </a:ext>
              </a:extLst>
            </p:cNvPr>
            <p:cNvGrpSpPr/>
            <p:nvPr/>
          </p:nvGrpSpPr>
          <p:grpSpPr>
            <a:xfrm>
              <a:off x="7988779" y="3552281"/>
              <a:ext cx="3453435" cy="1425476"/>
              <a:chOff x="7476345" y="3070033"/>
              <a:chExt cx="3917110" cy="146081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CC95001-49C3-8FA1-6B10-7E8611CA3C3A}"/>
                  </a:ext>
                </a:extLst>
              </p:cNvPr>
              <p:cNvGrpSpPr/>
              <p:nvPr/>
            </p:nvGrpSpPr>
            <p:grpSpPr>
              <a:xfrm>
                <a:off x="7476345" y="3070033"/>
                <a:ext cx="3917110" cy="1460818"/>
                <a:chOff x="4984594" y="2657439"/>
                <a:chExt cx="6694449" cy="3345479"/>
              </a:xfrm>
            </p:grpSpPr>
            <p:pic>
              <p:nvPicPr>
                <p:cNvPr id="13" name="Picture 4" descr="10 Best Microsoft Access Courses to Take in 2023 — Class Central">
                  <a:extLst>
                    <a:ext uri="{FF2B5EF4-FFF2-40B4-BE49-F238E27FC236}">
                      <a16:creationId xmlns:a16="http://schemas.microsoft.com/office/drawing/2014/main" id="{037BDEB5-D6BA-C1C3-A1B6-20339A3E06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116630" y="2657439"/>
                  <a:ext cx="6562413" cy="327949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DFF449ED-3785-1379-1E92-96374B0635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51218" y="3323063"/>
                  <a:ext cx="2468682" cy="434897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B57954F4-E43E-8A7D-CE24-2AC5A6DB7E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84594" y="5568021"/>
                  <a:ext cx="2468682" cy="434897"/>
                </a:xfrm>
                <a:prstGeom prst="rect">
                  <a:avLst/>
                </a:prstGeom>
              </p:spPr>
            </p:pic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FDC4D5-65B1-4033-C61A-ABA959EDC4E4}"/>
                  </a:ext>
                </a:extLst>
              </p:cNvPr>
              <p:cNvSpPr/>
              <p:nvPr/>
            </p:nvSpPr>
            <p:spPr>
              <a:xfrm>
                <a:off x="8575925" y="3946076"/>
                <a:ext cx="1217923" cy="53619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1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Part II</a:t>
                </a: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1164297-6479-DF27-A679-BEC36DC036BE}"/>
                </a:ext>
              </a:extLst>
            </p:cNvPr>
            <p:cNvSpPr/>
            <p:nvPr/>
          </p:nvSpPr>
          <p:spPr>
            <a:xfrm>
              <a:off x="9420860" y="3514555"/>
              <a:ext cx="161890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0" cap="none" spc="0" dirty="0">
                  <a:ln w="0"/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Advanced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36A015-657E-433D-444F-AD762ADBB18B}"/>
              </a:ext>
            </a:extLst>
          </p:cNvPr>
          <p:cNvGrpSpPr/>
          <p:nvPr/>
        </p:nvGrpSpPr>
        <p:grpSpPr>
          <a:xfrm>
            <a:off x="8022519" y="4788761"/>
            <a:ext cx="3453438" cy="1464519"/>
            <a:chOff x="8022519" y="4788761"/>
            <a:chExt cx="3453438" cy="146451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0F5B8F4-D0A9-23CC-FC44-4B6E1CD9E50D}"/>
                </a:ext>
              </a:extLst>
            </p:cNvPr>
            <p:cNvGrpSpPr/>
            <p:nvPr/>
          </p:nvGrpSpPr>
          <p:grpSpPr>
            <a:xfrm>
              <a:off x="8022519" y="4827803"/>
              <a:ext cx="3453438" cy="1425477"/>
              <a:chOff x="7476345" y="3070032"/>
              <a:chExt cx="3917116" cy="1460819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8AA426A-CB88-F722-9A8E-63AAFDDCD5BD}"/>
                  </a:ext>
                </a:extLst>
              </p:cNvPr>
              <p:cNvGrpSpPr/>
              <p:nvPr/>
            </p:nvGrpSpPr>
            <p:grpSpPr>
              <a:xfrm>
                <a:off x="7476345" y="3070032"/>
                <a:ext cx="3917116" cy="1460819"/>
                <a:chOff x="4984594" y="2657437"/>
                <a:chExt cx="6694467" cy="3345481"/>
              </a:xfrm>
            </p:grpSpPr>
            <p:pic>
              <p:nvPicPr>
                <p:cNvPr id="30" name="Picture 4" descr="10 Best Microsoft Access Courses to Take in 2023 — Class Central">
                  <a:extLst>
                    <a:ext uri="{FF2B5EF4-FFF2-40B4-BE49-F238E27FC236}">
                      <a16:creationId xmlns:a16="http://schemas.microsoft.com/office/drawing/2014/main" id="{5F558D41-0CDC-0892-0F03-89A7FD3C56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84602" y="2657437"/>
                  <a:ext cx="6694459" cy="33454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1BEBC2A8-8B34-A69C-F2CA-9E85D446F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51218" y="3323063"/>
                  <a:ext cx="2468682" cy="434897"/>
                </a:xfrm>
                <a:prstGeom prst="rect">
                  <a:avLst/>
                </a:prstGeom>
              </p:spPr>
            </p:pic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D75809DC-E72A-2E03-470B-FB7BFE338D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84594" y="5568021"/>
                  <a:ext cx="2468682" cy="434897"/>
                </a:xfrm>
                <a:prstGeom prst="rect">
                  <a:avLst/>
                </a:prstGeom>
              </p:spPr>
            </p:pic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F29CFA7-99F3-4C84-AA59-53BD357861C0}"/>
                  </a:ext>
                </a:extLst>
              </p:cNvPr>
              <p:cNvSpPr/>
              <p:nvPr/>
            </p:nvSpPr>
            <p:spPr>
              <a:xfrm>
                <a:off x="8521378" y="3946076"/>
                <a:ext cx="1327018" cy="53619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1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Part III</a:t>
                </a: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04F3376-46B7-B287-DF74-C6CB3A0AC420}"/>
                </a:ext>
              </a:extLst>
            </p:cNvPr>
            <p:cNvSpPr/>
            <p:nvPr/>
          </p:nvSpPr>
          <p:spPr>
            <a:xfrm>
              <a:off x="9801981" y="4788761"/>
              <a:ext cx="112723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0" cap="none" spc="0" dirty="0">
                  <a:ln w="0"/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Expert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950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5A0259-B4A9-D8BD-F395-3AFFFFA2B6D1}"/>
              </a:ext>
            </a:extLst>
          </p:cNvPr>
          <p:cNvSpPr/>
          <p:nvPr/>
        </p:nvSpPr>
        <p:spPr>
          <a:xfrm>
            <a:off x="109940" y="140681"/>
            <a:ext cx="354090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Data Analysis  Track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8ED3423-6649-5033-1A95-0A917C4A9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994" y="2038749"/>
            <a:ext cx="4159294" cy="1048113"/>
          </a:xfrm>
          <a:prstGeom prst="rect">
            <a:avLst/>
          </a:prstGeom>
        </p:spPr>
      </p:pic>
      <p:pic>
        <p:nvPicPr>
          <p:cNvPr id="2050" name="Picture 2" descr="What Is Data Analytics? | Free Tutorial for Beginners">
            <a:extLst>
              <a:ext uri="{FF2B5EF4-FFF2-40B4-BE49-F238E27FC236}">
                <a16:creationId xmlns:a16="http://schemas.microsoft.com/office/drawing/2014/main" id="{B83693F1-7AAE-35B3-EAA7-7A19A929D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04" y="106755"/>
            <a:ext cx="5412179" cy="1756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19DB43F-D3E5-5F96-F989-07B232ADBDA1}"/>
              </a:ext>
            </a:extLst>
          </p:cNvPr>
          <p:cNvGrpSpPr/>
          <p:nvPr/>
        </p:nvGrpSpPr>
        <p:grpSpPr>
          <a:xfrm>
            <a:off x="6541181" y="3262140"/>
            <a:ext cx="4991887" cy="1232528"/>
            <a:chOff x="6173687" y="2977243"/>
            <a:chExt cx="5138286" cy="138792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CDCA7D-7B12-4DA7-193B-67BC4A397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3687" y="2977243"/>
              <a:ext cx="2488338" cy="1240089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8D3267-94DE-3EBA-432C-D49366E8B393}"/>
                </a:ext>
              </a:extLst>
            </p:cNvPr>
            <p:cNvSpPr/>
            <p:nvPr/>
          </p:nvSpPr>
          <p:spPr>
            <a:xfrm>
              <a:off x="8078057" y="3013501"/>
              <a:ext cx="3233916" cy="13516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Analyzing and Visualizing </a:t>
              </a:r>
            </a:p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Data With Excel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865F3AC-815A-191E-EC21-CE435F646831}"/>
              </a:ext>
            </a:extLst>
          </p:cNvPr>
          <p:cNvGrpSpPr/>
          <p:nvPr/>
        </p:nvGrpSpPr>
        <p:grpSpPr>
          <a:xfrm>
            <a:off x="364564" y="2130685"/>
            <a:ext cx="3470528" cy="1256015"/>
            <a:chOff x="850005" y="2130573"/>
            <a:chExt cx="4260235" cy="1727113"/>
          </a:xfrm>
        </p:grpSpPr>
        <p:pic>
          <p:nvPicPr>
            <p:cNvPr id="2052" name="Picture 4" descr="Is Power BI Actually Useful? - PEI">
              <a:extLst>
                <a:ext uri="{FF2B5EF4-FFF2-40B4-BE49-F238E27FC236}">
                  <a16:creationId xmlns:a16="http://schemas.microsoft.com/office/drawing/2014/main" id="{9EB0D738-18AB-2B26-86CA-15DA9C858F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005" y="2196790"/>
              <a:ext cx="4260235" cy="1660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3FCD147-23E0-B6FB-FFCA-792163685AE3}"/>
                </a:ext>
              </a:extLst>
            </p:cNvPr>
            <p:cNvSpPr/>
            <p:nvPr/>
          </p:nvSpPr>
          <p:spPr>
            <a:xfrm>
              <a:off x="1409234" y="2130573"/>
              <a:ext cx="3141776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Data Transformation</a:t>
              </a:r>
            </a:p>
            <a:p>
              <a:pPr algn="ctr"/>
              <a:r>
                <a:rPr lang="en-US" sz="12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And Data </a:t>
              </a:r>
              <a:r>
                <a:rPr lang="en-US" sz="12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</a:t>
              </a:r>
              <a:r>
                <a:rPr lang="en-US" sz="12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odeling in 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1B9D534-3C23-80CB-113C-041D0C5F2266}"/>
                </a:ext>
              </a:extLst>
            </p:cNvPr>
            <p:cNvSpPr/>
            <p:nvPr/>
          </p:nvSpPr>
          <p:spPr>
            <a:xfrm>
              <a:off x="1742293" y="3325331"/>
              <a:ext cx="3141776" cy="40011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Part I</a:t>
              </a:r>
              <a:endParaRPr lang="en-US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C716B6-E771-6AA8-EC21-7A9D3633E8FA}"/>
              </a:ext>
            </a:extLst>
          </p:cNvPr>
          <p:cNvGrpSpPr/>
          <p:nvPr/>
        </p:nvGrpSpPr>
        <p:grpSpPr>
          <a:xfrm>
            <a:off x="391879" y="3432011"/>
            <a:ext cx="3443213" cy="1136518"/>
            <a:chOff x="850005" y="2196790"/>
            <a:chExt cx="4260235" cy="1660896"/>
          </a:xfrm>
        </p:grpSpPr>
        <p:pic>
          <p:nvPicPr>
            <p:cNvPr id="38" name="Picture 4" descr="Is Power BI Actually Useful? - PEI">
              <a:extLst>
                <a:ext uri="{FF2B5EF4-FFF2-40B4-BE49-F238E27FC236}">
                  <a16:creationId xmlns:a16="http://schemas.microsoft.com/office/drawing/2014/main" id="{E351A7FF-F503-BF36-E6AA-705AB29BA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005" y="2196790"/>
              <a:ext cx="4260235" cy="1660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88599C2-C628-9BAE-69CE-8D42817A266C}"/>
                </a:ext>
              </a:extLst>
            </p:cNvPr>
            <p:cNvSpPr/>
            <p:nvPr/>
          </p:nvSpPr>
          <p:spPr>
            <a:xfrm>
              <a:off x="1464422" y="2277237"/>
              <a:ext cx="3141777" cy="49475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Data</a:t>
              </a:r>
              <a:r>
                <a:rPr lang="ar-EG" sz="16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sz="16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Visualization in </a:t>
              </a:r>
              <a:endPara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723AA80-066C-3E9E-4DC7-09E9DD3860CB}"/>
                </a:ext>
              </a:extLst>
            </p:cNvPr>
            <p:cNvSpPr/>
            <p:nvPr/>
          </p:nvSpPr>
          <p:spPr>
            <a:xfrm>
              <a:off x="1742293" y="3325331"/>
              <a:ext cx="3141776" cy="40011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Part II</a:t>
              </a:r>
              <a:endParaRPr lang="en-US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B1354AC-EDC5-05B4-18FB-B0DA4EC779C5}"/>
              </a:ext>
            </a:extLst>
          </p:cNvPr>
          <p:cNvGrpSpPr/>
          <p:nvPr/>
        </p:nvGrpSpPr>
        <p:grpSpPr>
          <a:xfrm>
            <a:off x="3925023" y="4750083"/>
            <a:ext cx="3579681" cy="1496394"/>
            <a:chOff x="6901238" y="3956368"/>
            <a:chExt cx="4055021" cy="2280949"/>
          </a:xfrm>
        </p:grpSpPr>
        <p:pic>
          <p:nvPicPr>
            <p:cNvPr id="2054" name="Picture 6" descr="What is Data Visualization? (Definition, Examples, Best Practices)">
              <a:extLst>
                <a:ext uri="{FF2B5EF4-FFF2-40B4-BE49-F238E27FC236}">
                  <a16:creationId xmlns:a16="http://schemas.microsoft.com/office/drawing/2014/main" id="{96AD8E8C-7B6E-4801-75B3-6AE690C8B8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1238" y="3956368"/>
              <a:ext cx="4055021" cy="2280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9A12F4-D92E-3C54-4346-486D0D34A158}"/>
                </a:ext>
              </a:extLst>
            </p:cNvPr>
            <p:cNvSpPr/>
            <p:nvPr/>
          </p:nvSpPr>
          <p:spPr>
            <a:xfrm>
              <a:off x="7044423" y="4049359"/>
              <a:ext cx="3768650" cy="369332"/>
            </a:xfrm>
            <a:prstGeom prst="rect">
              <a:avLst/>
            </a:prstGeom>
            <a:solidFill>
              <a:srgbClr val="64276C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Principles of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176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FFA30A-25FE-20DC-54DF-A80F8176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10" y="499749"/>
            <a:ext cx="4242373" cy="2357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2A86F-782A-81AA-75B6-7C9D5C3B0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54" y="3114861"/>
            <a:ext cx="2148746" cy="2700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D106A-5D00-E2F5-1F0C-1EAFB5419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362" y="2878741"/>
            <a:ext cx="2736173" cy="2243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7742C5-C71E-C6A4-908F-69F83C830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538" y="2648137"/>
            <a:ext cx="215265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81075" y="3240488"/>
            <a:ext cx="2545377" cy="3143842"/>
            <a:chOff x="981075" y="3240488"/>
            <a:chExt cx="2545377" cy="3143842"/>
          </a:xfrm>
        </p:grpSpPr>
        <p:pic>
          <p:nvPicPr>
            <p:cNvPr id="2050" name="Picture 2" descr="http://www.equinoxpub.com/blog/wp-content/uploads/2014/09/Religion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075" y="3240488"/>
              <a:ext cx="2308225" cy="2220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981075" y="5461000"/>
              <a:ext cx="254537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Religion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735999" y="3359485"/>
            <a:ext cx="2352675" cy="3347042"/>
            <a:chOff x="4384096" y="3189688"/>
            <a:chExt cx="2352675" cy="3347042"/>
          </a:xfrm>
        </p:grpSpPr>
        <p:pic>
          <p:nvPicPr>
            <p:cNvPr id="2054" name="Picture 6" descr="http://www.commlawblog.com/files/2014/10/political-candidate-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096" y="3189688"/>
              <a:ext cx="23526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384096" y="5613400"/>
              <a:ext cx="191116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Policy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480425" y="3359485"/>
            <a:ext cx="3019425" cy="3024845"/>
            <a:chOff x="8480425" y="3359485"/>
            <a:chExt cx="3019425" cy="3024845"/>
          </a:xfrm>
        </p:grpSpPr>
        <p:sp>
          <p:nvSpPr>
            <p:cNvPr id="5" name="Rectangle 4"/>
            <p:cNvSpPr/>
            <p:nvPr/>
          </p:nvSpPr>
          <p:spPr>
            <a:xfrm>
              <a:off x="8772525" y="5461000"/>
              <a:ext cx="209704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Soccer</a:t>
              </a:r>
            </a:p>
          </p:txBody>
        </p:sp>
        <p:pic>
          <p:nvPicPr>
            <p:cNvPr id="2056" name="Picture 8" descr="http://www.wired.com/wp-content/uploads/images_blogs/playbook/2012/10/soccer-arsenal-v-liverpool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0425" y="3359485"/>
              <a:ext cx="3019425" cy="2007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1658627" y="494903"/>
            <a:ext cx="704596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You are Allowed to Talk </a:t>
            </a:r>
          </a:p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about anything except </a:t>
            </a:r>
          </a:p>
        </p:txBody>
      </p:sp>
    </p:spTree>
    <p:extLst>
      <p:ext uri="{BB962C8B-B14F-4D97-AF65-F5344CB8AC3E}">
        <p14:creationId xmlns:p14="http://schemas.microsoft.com/office/powerpoint/2010/main" val="258167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6519" y="2967335"/>
            <a:ext cx="86789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Lab 0 : Excel Chart Basics</a:t>
            </a:r>
          </a:p>
        </p:txBody>
      </p:sp>
    </p:spTree>
    <p:extLst>
      <p:ext uri="{BB962C8B-B14F-4D97-AF65-F5344CB8AC3E}">
        <p14:creationId xmlns:p14="http://schemas.microsoft.com/office/powerpoint/2010/main" val="14796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91286" y="2967335"/>
            <a:ext cx="4009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Feed back </a:t>
            </a:r>
          </a:p>
        </p:txBody>
      </p:sp>
    </p:spTree>
    <p:extLst>
      <p:ext uri="{BB962C8B-B14F-4D97-AF65-F5344CB8AC3E}">
        <p14:creationId xmlns:p14="http://schemas.microsoft.com/office/powerpoint/2010/main" val="101692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419</TotalTime>
  <Words>660</Words>
  <Application>Microsoft Office PowerPoint</Application>
  <PresentationFormat>Widescreen</PresentationFormat>
  <Paragraphs>240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Tw Cen MT</vt:lpstr>
      <vt:lpstr>Retrospect</vt:lpstr>
      <vt:lpstr>Introduction to Data Analysis Using Excel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52</cp:revision>
  <dcterms:created xsi:type="dcterms:W3CDTF">2016-11-14T07:59:55Z</dcterms:created>
  <dcterms:modified xsi:type="dcterms:W3CDTF">2023-07-07T12:25:48Z</dcterms:modified>
</cp:coreProperties>
</file>