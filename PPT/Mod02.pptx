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6" r:id="rId3"/>
    <p:sldId id="257" r:id="rId4"/>
    <p:sldId id="283" r:id="rId5"/>
    <p:sldId id="284" r:id="rId6"/>
    <p:sldId id="282" r:id="rId7"/>
    <p:sldId id="285" r:id="rId8"/>
    <p:sldId id="258" r:id="rId9"/>
    <p:sldId id="259" r:id="rId10"/>
    <p:sldId id="260" r:id="rId11"/>
    <p:sldId id="261" r:id="rId12"/>
    <p:sldId id="274" r:id="rId13"/>
    <p:sldId id="263" r:id="rId14"/>
    <p:sldId id="264" r:id="rId15"/>
    <p:sldId id="265" r:id="rId16"/>
    <p:sldId id="269" r:id="rId17"/>
    <p:sldId id="267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7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95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69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6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01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9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1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15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17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08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8178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43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3720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90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4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2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crosoftLearning/Introduction-to-Data-Analysis-using-Excel/raw/master/Quiz/SalesForCourse_quizz_table.xlsx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14" y="601683"/>
            <a:ext cx="11420141" cy="17337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2550" y="4830441"/>
            <a:ext cx="839585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02:Excel Tables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4530272" y="2896105"/>
            <a:ext cx="7295638" cy="1066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>
              <a:spcBef>
                <a:spcPct val="20000"/>
              </a:spcBef>
              <a:buFont typeface="Arial" pitchFamily="34" charset="0"/>
              <a:buNone/>
              <a:defRPr/>
            </a:pPr>
            <a:endParaRPr lang="en-US" sz="3200" dirty="0">
              <a:solidFill>
                <a:prstClr val="black"/>
              </a:solidFill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  <a:latin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171" y="3052881"/>
            <a:ext cx="2280557" cy="7830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9" name="Rectangle 8"/>
          <p:cNvSpPr/>
          <p:nvPr/>
        </p:nvSpPr>
        <p:spPr>
          <a:xfrm>
            <a:off x="5000477" y="2982728"/>
            <a:ext cx="3362074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Said </a:t>
            </a:r>
            <a:r>
              <a:rPr lang="en-US" sz="5400" b="1" cap="none" spc="50" dirty="0" err="1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Fawzy</a:t>
            </a:r>
            <a:endParaRPr lang="en-US" sz="5400" b="1" cap="none" spc="5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5825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DF3FC5-D17C-1258-3BC6-88C1476D12B6}"/>
              </a:ext>
            </a:extLst>
          </p:cNvPr>
          <p:cNvSpPr/>
          <p:nvPr/>
        </p:nvSpPr>
        <p:spPr>
          <a:xfrm>
            <a:off x="284624" y="278299"/>
            <a:ext cx="54601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Before we start: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FE4EC1-7935-64DE-0995-00DE12D73EAC}"/>
              </a:ext>
            </a:extLst>
          </p:cNvPr>
          <p:cNvSpPr/>
          <p:nvPr/>
        </p:nvSpPr>
        <p:spPr>
          <a:xfrm>
            <a:off x="1910071" y="1567084"/>
            <a:ext cx="552587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b="1" dirty="0"/>
              <a:t>Functions you should know: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5C2B38-1F2B-569A-909E-1B1DE5866A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br>
              <a:rPr lang="en-US" sz="3200" dirty="0">
                <a:solidFill>
                  <a:srgbClr val="002060"/>
                </a:solidFill>
              </a:rPr>
            </a:b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60BFFAE-D556-91AC-B7C7-23C498F70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7650" y="2332101"/>
            <a:ext cx="4934245" cy="1096899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2060"/>
                </a:solidFill>
              </a:rPr>
              <a:t>IF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2060"/>
                </a:solidFill>
              </a:rPr>
              <a:t>Nested IF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2060"/>
                </a:solidFill>
              </a:rPr>
              <a:t>IFS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2060"/>
                </a:solidFill>
              </a:rPr>
              <a:t>RIGHT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2060"/>
                </a:solidFill>
              </a:rPr>
              <a:t>TEXT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2ED17-75CA-3F31-A2F7-23134CC30A08}"/>
              </a:ext>
            </a:extLst>
          </p:cNvPr>
          <p:cNvSpPr txBox="1"/>
          <p:nvPr/>
        </p:nvSpPr>
        <p:spPr>
          <a:xfrm>
            <a:off x="5885155" y="5681979"/>
            <a:ext cx="255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See Extra Demos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350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86289" y="2306275"/>
            <a:ext cx="3809056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Demo </a:t>
            </a:r>
          </a:p>
        </p:txBody>
      </p:sp>
    </p:spTree>
    <p:extLst>
      <p:ext uri="{BB962C8B-B14F-4D97-AF65-F5344CB8AC3E}">
        <p14:creationId xmlns:p14="http://schemas.microsoft.com/office/powerpoint/2010/main" val="385480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421"/>
            <a:ext cx="2706914" cy="27069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19829" y="441850"/>
            <a:ext cx="84561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Jack gave us range of </a:t>
            </a:r>
            <a:r>
              <a:rPr lang="en-US" sz="540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</a:t>
            </a:r>
            <a:endParaRPr lang="en-US" sz="5400" b="0" cap="none" spc="0" dirty="0">
              <a:ln w="0"/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947" y="1846208"/>
            <a:ext cx="6256111" cy="432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4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95562" y="761163"/>
            <a:ext cx="77530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But we need Excel Table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7" y="1457550"/>
            <a:ext cx="2143125" cy="21431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886" y="1844150"/>
            <a:ext cx="8403771" cy="451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23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909" y="1675493"/>
            <a:ext cx="6486525" cy="46101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85539" y="499906"/>
            <a:ext cx="67091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 can use nested IF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4697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7762" y="630534"/>
            <a:ext cx="47582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 can use IFS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D50C3-78EC-414E-4C03-C6DE52230045}"/>
              </a:ext>
            </a:extLst>
          </p:cNvPr>
          <p:cNvSpPr txBox="1"/>
          <p:nvPr/>
        </p:nvSpPr>
        <p:spPr>
          <a:xfrm>
            <a:off x="2688880" y="2637318"/>
            <a:ext cx="584853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=IFS([@[Customer Age]]&lt;21,"&lt;21",</a:t>
            </a:r>
          </a:p>
          <a:p>
            <a:r>
              <a:rPr lang="en-US" sz="3200" dirty="0"/>
              <a:t>[@[Customer Age]]&gt;21,"21-30",</a:t>
            </a:r>
          </a:p>
          <a:p>
            <a:r>
              <a:rPr lang="en-US" sz="3200" dirty="0"/>
              <a:t>[@[Customer Age]]&lt;41,"31-40")</a:t>
            </a:r>
          </a:p>
        </p:txBody>
      </p:sp>
    </p:spTree>
    <p:extLst>
      <p:ext uri="{BB962C8B-B14F-4D97-AF65-F5344CB8AC3E}">
        <p14:creationId xmlns:p14="http://schemas.microsoft.com/office/powerpoint/2010/main" val="426965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35123" y="2356416"/>
            <a:ext cx="728385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Knowledge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45157" y="3815761"/>
            <a:ext cx="190629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7200" b="1" dirty="0"/>
              <a:t>Quiz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2394" y="5296041"/>
            <a:ext cx="738645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C3C3C"/>
                </a:solidFill>
                <a:latin typeface="Open Sans"/>
              </a:rPr>
              <a:t>Please use the following </a:t>
            </a:r>
            <a:r>
              <a:rPr lang="en-US" b="1" dirty="0">
                <a:solidFill>
                  <a:srgbClr val="FF0000"/>
                </a:solidFill>
                <a:latin typeface="Open Sans"/>
                <a:hlinkClick r:id="rId2"/>
              </a:rPr>
              <a:t>file</a:t>
            </a:r>
            <a:r>
              <a:rPr lang="en-US" dirty="0">
                <a:solidFill>
                  <a:srgbClr val="3C3C3C"/>
                </a:solidFill>
                <a:latin typeface="Open Sans"/>
              </a:rPr>
              <a:t> to answer the questions 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Open Sans"/>
              </a:rPr>
              <a:t>SalesForCourse_quizz_table.xlsx.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81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5346" y="418006"/>
            <a:ext cx="2042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1</a:t>
            </a:r>
          </a:p>
        </p:txBody>
      </p:sp>
      <p:sp>
        <p:nvSpPr>
          <p:cNvPr id="3" name="Rectangle 2"/>
          <p:cNvSpPr/>
          <p:nvPr/>
        </p:nvSpPr>
        <p:spPr>
          <a:xfrm>
            <a:off x="934191" y="1028918"/>
            <a:ext cx="75804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is the difference between a table and a range in Excel? Select four that apply.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346" y="2058149"/>
            <a:ext cx="648115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  <a:latin typeface="Open Sans"/>
              </a:rPr>
              <a:t>In tables, you can add many types of totals for each column without writing any formulas..</a:t>
            </a:r>
            <a:endParaRPr lang="en-US" sz="2000" b="0" i="0" dirty="0">
              <a:solidFill>
                <a:srgbClr val="00B0F0"/>
              </a:solidFill>
              <a:effectLst/>
              <a:latin typeface="Open Sans"/>
            </a:endParaRPr>
          </a:p>
          <a:p>
            <a:endParaRPr lang="en-US" sz="2000" b="0" i="0" dirty="0">
              <a:solidFill>
                <a:srgbClr val="00B0F0"/>
              </a:solidFill>
              <a:effectLst/>
              <a:latin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A range can be converted to a table, but a table cannot be converted to a range.</a:t>
            </a:r>
          </a:p>
          <a:p>
            <a:endParaRPr lang="en-US" sz="20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Tables are formatted with alternate colors by default.</a:t>
            </a:r>
          </a:p>
          <a:p>
            <a:endParaRPr lang="en-US" sz="20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Formulas in tables refer to other columns by name and not by regular Excel reference.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Formulas in table columns are automatically applied to new rows.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223" y="1859915"/>
            <a:ext cx="703613" cy="751587"/>
          </a:xfrm>
          <a:prstGeom prst="rect">
            <a:avLst/>
          </a:prstGeom>
        </p:spPr>
      </p:pic>
      <p:pic>
        <p:nvPicPr>
          <p:cNvPr id="1027" name="DefaultOcx"/>
          <p:cNvPicPr preferRelativeResize="0">
            <a:picLocks noChangeArrowheads="1" noChangeShapeType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223" y="3617131"/>
            <a:ext cx="703613" cy="7515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498" y="4682664"/>
            <a:ext cx="703613" cy="75158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497" y="5864740"/>
            <a:ext cx="703613" cy="75158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638306" y="5640368"/>
            <a:ext cx="5553694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rgbClr val="C00000"/>
                </a:solidFill>
                <a:effectLst/>
                <a:latin typeface="Open Sans"/>
              </a:rPr>
              <a:t>Explanation</a:t>
            </a:r>
          </a:p>
          <a:p>
            <a:r>
              <a:rPr lang="en-US" dirty="0">
                <a:solidFill>
                  <a:srgbClr val="222222"/>
                </a:solidFill>
                <a:latin typeface="Open Sans"/>
              </a:rPr>
              <a:t>Table can be converted to a range from by clicking ‘Convert to Range’ button in the Table Tools contextual ribbon</a:t>
            </a:r>
            <a:endParaRPr lang="en-US" b="0" i="0" dirty="0">
              <a:solidFill>
                <a:srgbClr val="222222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2905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5346" y="418006"/>
            <a:ext cx="2042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5346" y="941226"/>
            <a:ext cx="84948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If you filter the table to show only sales in United Kingdom, what will be calculated in the Total row?</a:t>
            </a:r>
          </a:p>
        </p:txBody>
      </p:sp>
      <p:sp>
        <p:nvSpPr>
          <p:cNvPr id="9" name="Rectangle 8"/>
          <p:cNvSpPr/>
          <p:nvPr/>
        </p:nvSpPr>
        <p:spPr>
          <a:xfrm>
            <a:off x="485689" y="2222851"/>
            <a:ext cx="758425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The total of all rows.</a:t>
            </a:r>
          </a:p>
          <a:p>
            <a:endParaRPr lang="en-US" sz="2000" b="0" i="0" dirty="0">
              <a:solidFill>
                <a:srgbClr val="0070C0"/>
              </a:solidFill>
              <a:effectLst/>
              <a:latin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The totals will recalculate according to the filtered rows.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The totals will recalculate according to the unfiltered rows.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The totals will recalculate only when you reopen the file.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746" y="2654544"/>
            <a:ext cx="703613" cy="7515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23326" y="5843579"/>
            <a:ext cx="615405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rgbClr val="C00000"/>
                </a:solidFill>
                <a:effectLst/>
                <a:latin typeface="Open Sans"/>
              </a:rPr>
              <a:t>Explanation</a:t>
            </a:r>
          </a:p>
          <a:p>
            <a:r>
              <a:rPr lang="en-US" dirty="0"/>
              <a:t>The formulas in total rows are using SUBTOTAL function that ignores filtered rows</a:t>
            </a:r>
            <a:endParaRPr lang="en-US" b="0" i="0" dirty="0">
              <a:solidFill>
                <a:srgbClr val="222222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19831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5346" y="418006"/>
            <a:ext cx="21419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3 </a:t>
            </a:r>
          </a:p>
        </p:txBody>
      </p:sp>
      <p:sp>
        <p:nvSpPr>
          <p:cNvPr id="3" name="Rectangle 2"/>
          <p:cNvSpPr/>
          <p:nvPr/>
        </p:nvSpPr>
        <p:spPr>
          <a:xfrm>
            <a:off x="645346" y="941226"/>
            <a:ext cx="849481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You are only interested in the data for male customers in France. After setting the appropriate filters, answer the following questions.</a:t>
            </a:r>
          </a:p>
          <a:p>
            <a:endParaRPr lang="en-US" sz="2400" dirty="0"/>
          </a:p>
          <a:p>
            <a:r>
              <a:rPr lang="en-US" sz="2400" dirty="0"/>
              <a:t>How many rows are displayed?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906604" y="3135147"/>
            <a:ext cx="2189888" cy="70788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2573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5345" y="4392404"/>
            <a:ext cx="84948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is the total revenue for the displayed rows? Only provide whole number. Do not provide symbols or any decimals places.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6603" y="5715843"/>
            <a:ext cx="3200939" cy="70788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1770366</a:t>
            </a:r>
          </a:p>
        </p:txBody>
      </p:sp>
    </p:spTree>
    <p:extLst>
      <p:ext uri="{BB962C8B-B14F-4D97-AF65-F5344CB8AC3E}">
        <p14:creationId xmlns:p14="http://schemas.microsoft.com/office/powerpoint/2010/main" val="347407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5346" y="418006"/>
            <a:ext cx="32415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3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5344" y="1207189"/>
            <a:ext cx="84948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is the average revenue? Only provide numbers, no currency symbols, and report to two decimal points.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6603" y="2507409"/>
            <a:ext cx="2189888" cy="70788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688.06</a:t>
            </a:r>
          </a:p>
        </p:txBody>
      </p:sp>
    </p:spTree>
    <p:extLst>
      <p:ext uri="{BB962C8B-B14F-4D97-AF65-F5344CB8AC3E}">
        <p14:creationId xmlns:p14="http://schemas.microsoft.com/office/powerpoint/2010/main" val="1473655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01328" y="2848582"/>
            <a:ext cx="280557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Lab 2</a:t>
            </a:r>
          </a:p>
        </p:txBody>
      </p:sp>
    </p:spTree>
    <p:extLst>
      <p:ext uri="{BB962C8B-B14F-4D97-AF65-F5344CB8AC3E}">
        <p14:creationId xmlns:p14="http://schemas.microsoft.com/office/powerpoint/2010/main" val="77782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181482"/>
            <a:ext cx="215636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172357" y="950923"/>
            <a:ext cx="10900031" cy="5564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While your first attempt to show the company's performance to Lucy was not bad, clearly, she has a lot more requirements than what you provided.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She wants to know more about the year over year sales, sliced into different categories, sub-categories, and countries.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She also wants to see additional information such as customer demographics.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Jack has provided you with a different data source. This time the data has more than one hundred thousand rows.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Before you can create additional reports to Lucy, first you need to prepare the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3377" y="235926"/>
            <a:ext cx="517033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C00000"/>
                </a:solidFill>
                <a:effectLst/>
                <a:latin typeface="Open Sans"/>
              </a:rPr>
              <a:t>Use Data in file  </a:t>
            </a:r>
            <a:r>
              <a:rPr lang="en-US" sz="2400" dirty="0" err="1">
                <a:solidFill>
                  <a:srgbClr val="002060"/>
                </a:solidFill>
                <a:latin typeface="Open Sans"/>
              </a:rPr>
              <a:t>Lab2Start.xlsx</a:t>
            </a:r>
            <a:r>
              <a:rPr lang="en-US" sz="2400" dirty="0">
                <a:solidFill>
                  <a:srgbClr val="002060"/>
                </a:solidFill>
                <a:latin typeface="Open Sans"/>
              </a:rPr>
              <a:t>.</a:t>
            </a:r>
            <a:endParaRPr lang="en-US" sz="2400" b="0" i="0" dirty="0">
              <a:solidFill>
                <a:srgbClr val="002060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330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0711" y="1098741"/>
            <a:ext cx="8494816" cy="2949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3C3C"/>
                </a:solidFill>
                <a:latin typeface="Open Sans"/>
              </a:rPr>
              <a:t>The first thing you need to do is to convert the data into an Excel table.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3C3C3C"/>
              </a:solidFill>
              <a:latin typeface="Open San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3C3C"/>
                </a:solidFill>
                <a:latin typeface="Open Sans"/>
              </a:rPr>
              <a:t>Once you do that, you can add total row, filter the data, and the total will reflect the total only for the filtered data.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3C3C"/>
                </a:solidFill>
                <a:latin typeface="Open Sans"/>
              </a:rPr>
              <a:t>Let's try this.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3C3C"/>
                </a:solidFill>
                <a:latin typeface="Open Sans"/>
              </a:rPr>
              <a:t>Add a total row for the table, and use the Sum aggregation to show the total of the Revenue column and then filter the data only for United States.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38387" y="256873"/>
            <a:ext cx="350769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2 –Step 1</a:t>
            </a:r>
          </a:p>
        </p:txBody>
      </p:sp>
      <p:pic>
        <p:nvPicPr>
          <p:cNvPr id="7" name="Picture 4" descr="https://d37djvu3ytnwxt.cloudfront.net/assets/courseware/v1/5eb7a7a832f3c6d96b78f0d7ea79b4d3/asset-v1:Microsoft+DAT205x+3T2016+type@asset+block/preparing_data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630" y="2713415"/>
            <a:ext cx="3390770" cy="4144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46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5346" y="418006"/>
            <a:ext cx="2042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1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443" y="1280852"/>
            <a:ext cx="92126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is the total revenue for all the sales in the </a:t>
            </a:r>
            <a:r>
              <a:rPr lang="en-US" sz="2400" b="1" dirty="0">
                <a:solidFill>
                  <a:srgbClr val="C00000"/>
                </a:solidFill>
              </a:rPr>
              <a:t>United States</a:t>
            </a:r>
            <a:r>
              <a:rPr lang="en-US" sz="24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346" y="2660134"/>
            <a:ext cx="648115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  <a:latin typeface="Open Sans"/>
              </a:rPr>
              <a:t>101990988</a:t>
            </a:r>
            <a:endParaRPr lang="en-US" sz="2800" b="0" i="0" dirty="0">
              <a:solidFill>
                <a:srgbClr val="00B0F0"/>
              </a:solidFill>
              <a:effectLst/>
              <a:latin typeface="Open Sans"/>
            </a:endParaRPr>
          </a:p>
          <a:p>
            <a:endParaRPr lang="en-US" sz="2800" b="0" i="0" dirty="0">
              <a:solidFill>
                <a:srgbClr val="00B0F0"/>
              </a:solidFill>
              <a:effectLst/>
              <a:latin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27975547</a:t>
            </a:r>
          </a:p>
          <a:p>
            <a:endParaRPr lang="en-US" sz="28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24606895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12494351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315" y="3310338"/>
            <a:ext cx="703613" cy="7515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01269" y="392191"/>
            <a:ext cx="154721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2</a:t>
            </a:r>
          </a:p>
        </p:txBody>
      </p:sp>
    </p:spTree>
    <p:extLst>
      <p:ext uri="{BB962C8B-B14F-4D97-AF65-F5344CB8AC3E}">
        <p14:creationId xmlns:p14="http://schemas.microsoft.com/office/powerpoint/2010/main" val="323308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9126" y="1258699"/>
            <a:ext cx="1028007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C3C3C"/>
                </a:solidFill>
                <a:latin typeface="Open Sans"/>
              </a:rPr>
              <a:t>Now, you need to add several columns, derived from existing columns in the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3C3C3C"/>
              </a:solidFill>
              <a:latin typeface="Open San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C3C3C"/>
                </a:solidFill>
                <a:latin typeface="Open Sans"/>
              </a:rPr>
              <a:t>First, let's add a "</a:t>
            </a:r>
            <a:r>
              <a:rPr lang="en-US" sz="2400" dirty="0">
                <a:solidFill>
                  <a:srgbClr val="C00000"/>
                </a:solidFill>
                <a:latin typeface="Open Sans"/>
              </a:rPr>
              <a:t>Month</a:t>
            </a:r>
            <a:r>
              <a:rPr lang="en-US" sz="2400" dirty="0">
                <a:solidFill>
                  <a:srgbClr val="3C3C3C"/>
                </a:solidFill>
                <a:latin typeface="Open Sans"/>
              </a:rPr>
              <a:t>" column. Insert a new column to the left of the </a:t>
            </a:r>
            <a:r>
              <a:rPr lang="en-US" sz="2400" dirty="0">
                <a:solidFill>
                  <a:srgbClr val="C00000"/>
                </a:solidFill>
                <a:latin typeface="Open Sans"/>
              </a:rPr>
              <a:t>Customer ID </a:t>
            </a:r>
            <a:r>
              <a:rPr lang="en-US" sz="2400" dirty="0">
                <a:solidFill>
                  <a:srgbClr val="3C3C3C"/>
                </a:solidFill>
                <a:latin typeface="Open Sans"/>
              </a:rPr>
              <a:t>column, and use formula to derive the month of sales from the Date column.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Open Sans"/>
              </a:rPr>
              <a:t>HINT</a:t>
            </a:r>
            <a:r>
              <a:rPr lang="en-US" sz="2400" dirty="0">
                <a:solidFill>
                  <a:srgbClr val="3C3C3C"/>
                </a:solidFill>
                <a:latin typeface="Open Sans"/>
              </a:rPr>
              <a:t>: Use the </a:t>
            </a:r>
            <a:r>
              <a:rPr lang="en-US" sz="2400" dirty="0">
                <a:solidFill>
                  <a:srgbClr val="C00000"/>
                </a:solidFill>
                <a:latin typeface="Open Sans"/>
              </a:rPr>
              <a:t>Text() </a:t>
            </a:r>
            <a:r>
              <a:rPr lang="en-US" sz="2400" dirty="0">
                <a:solidFill>
                  <a:srgbClr val="3C3C3C"/>
                </a:solidFill>
                <a:latin typeface="Open Sans"/>
              </a:rPr>
              <a:t>function (=TEXT([@Date],"MM")</a:t>
            </a:r>
            <a:endParaRPr lang="en-US" sz="2400" b="0" i="0" dirty="0">
              <a:solidFill>
                <a:srgbClr val="3C3C3C"/>
              </a:solidFill>
              <a:effectLst/>
              <a:latin typeface="Open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46412" y="489258"/>
            <a:ext cx="33377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2-Step 2</a:t>
            </a:r>
          </a:p>
        </p:txBody>
      </p:sp>
    </p:spTree>
    <p:extLst>
      <p:ext uri="{BB962C8B-B14F-4D97-AF65-F5344CB8AC3E}">
        <p14:creationId xmlns:p14="http://schemas.microsoft.com/office/powerpoint/2010/main" val="107285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5346" y="418006"/>
            <a:ext cx="21419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2 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443" y="1280852"/>
            <a:ext cx="92126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is the total revenue for all the sales in the month of </a:t>
            </a:r>
            <a:r>
              <a:rPr lang="en-US" sz="2400" b="1" dirty="0">
                <a:solidFill>
                  <a:srgbClr val="C00000"/>
                </a:solidFill>
              </a:rPr>
              <a:t>December</a:t>
            </a:r>
            <a:r>
              <a:rPr lang="en-US" sz="2400" dirty="0"/>
              <a:t>??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346" y="2660134"/>
            <a:ext cx="648115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  <a:latin typeface="Open Sans"/>
              </a:rPr>
              <a:t>9086931</a:t>
            </a:r>
          </a:p>
          <a:p>
            <a:endParaRPr lang="en-US" sz="2800" b="0" i="0" dirty="0">
              <a:solidFill>
                <a:srgbClr val="00B0F0"/>
              </a:solidFill>
              <a:effectLst/>
              <a:latin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8801313</a:t>
            </a:r>
          </a:p>
          <a:p>
            <a:endParaRPr lang="en-US" sz="28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6809175</a:t>
            </a:r>
          </a:p>
          <a:p>
            <a:endParaRPr lang="en-US" sz="28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6494188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172" y="2451475"/>
            <a:ext cx="703613" cy="7515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01269" y="392191"/>
            <a:ext cx="154721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2</a:t>
            </a:r>
          </a:p>
        </p:txBody>
      </p:sp>
    </p:spTree>
    <p:extLst>
      <p:ext uri="{BB962C8B-B14F-4D97-AF65-F5344CB8AC3E}">
        <p14:creationId xmlns:p14="http://schemas.microsoft.com/office/powerpoint/2010/main" val="168940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9125" y="1258699"/>
            <a:ext cx="1055584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C3C3C"/>
                </a:solidFill>
                <a:latin typeface="Open Sans"/>
              </a:rPr>
              <a:t>Next, let's add an "</a:t>
            </a:r>
            <a:r>
              <a:rPr lang="en-US" sz="2400" dirty="0">
                <a:solidFill>
                  <a:srgbClr val="C00000"/>
                </a:solidFill>
                <a:latin typeface="Open Sans"/>
              </a:rPr>
              <a:t>Age Group</a:t>
            </a:r>
            <a:r>
              <a:rPr lang="en-US" sz="2400" dirty="0">
                <a:solidFill>
                  <a:srgbClr val="3C3C3C"/>
                </a:solidFill>
                <a:latin typeface="Open Sans"/>
              </a:rPr>
              <a:t>" column.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C3C3C"/>
                </a:solidFill>
                <a:latin typeface="Open Sans"/>
              </a:rPr>
              <a:t>Insert a new column to the left of the </a:t>
            </a:r>
            <a:r>
              <a:rPr lang="en-US" sz="2400" dirty="0">
                <a:solidFill>
                  <a:srgbClr val="C00000"/>
                </a:solidFill>
                <a:latin typeface="Open Sans"/>
              </a:rPr>
              <a:t>Customer Gender</a:t>
            </a:r>
            <a:r>
              <a:rPr lang="en-US" sz="2400" dirty="0">
                <a:solidFill>
                  <a:srgbClr val="3C3C3C"/>
                </a:solidFill>
                <a:latin typeface="Open Sans"/>
              </a:rPr>
              <a:t>, and use formula to derive the age group from the </a:t>
            </a:r>
            <a:r>
              <a:rPr lang="en-US" sz="2400" dirty="0">
                <a:solidFill>
                  <a:srgbClr val="C00000"/>
                </a:solidFill>
                <a:latin typeface="Open Sans"/>
              </a:rPr>
              <a:t>Customer Age </a:t>
            </a:r>
            <a:r>
              <a:rPr lang="en-US" sz="2400" dirty="0">
                <a:solidFill>
                  <a:srgbClr val="3C3C3C"/>
                </a:solidFill>
                <a:latin typeface="Open Sans"/>
              </a:rPr>
              <a:t>column.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C3C3C"/>
                </a:solidFill>
                <a:latin typeface="Open Sans"/>
              </a:rPr>
              <a:t>Let's group the customers based on the following criteria: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Open Sans"/>
              </a:rPr>
              <a:t>Youth (&lt;25)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Open Sans"/>
              </a:rPr>
              <a:t>Young Adults (25-34)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Open Sans"/>
              </a:rPr>
              <a:t>Adults (35-64)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Open Sans"/>
              </a:rPr>
              <a:t>Seniors (&gt;64)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  <a:latin typeface="Open Sans"/>
              </a:rPr>
              <a:t>HINT:</a:t>
            </a:r>
            <a:r>
              <a:rPr lang="en-US" sz="2000" dirty="0">
                <a:solidFill>
                  <a:srgbClr val="3C3C3C"/>
                </a:solidFill>
                <a:latin typeface="Open Sans"/>
              </a:rPr>
              <a:t> Use the nested </a:t>
            </a:r>
            <a:r>
              <a:rPr lang="en-US" sz="2000" dirty="0">
                <a:solidFill>
                  <a:srgbClr val="C00000"/>
                </a:solidFill>
                <a:latin typeface="Open Sans"/>
              </a:rPr>
              <a:t>IF() </a:t>
            </a:r>
            <a:r>
              <a:rPr lang="en-US" sz="2000" dirty="0">
                <a:solidFill>
                  <a:srgbClr val="3C3C3C"/>
                </a:solidFill>
                <a:latin typeface="Open Sans"/>
              </a:rPr>
              <a:t>functions. Alternatively, you can use the </a:t>
            </a:r>
            <a:r>
              <a:rPr lang="en-US" sz="2000" dirty="0">
                <a:solidFill>
                  <a:srgbClr val="C00000"/>
                </a:solidFill>
                <a:latin typeface="Open Sans"/>
              </a:rPr>
              <a:t>IFS() </a:t>
            </a:r>
            <a:r>
              <a:rPr lang="en-US" sz="2000" dirty="0">
                <a:solidFill>
                  <a:srgbClr val="3C3C3C"/>
                </a:solidFill>
                <a:latin typeface="Open Sans"/>
              </a:rPr>
              <a:t>function if it is available in your version (2016 + updates from O365)</a:t>
            </a:r>
            <a:endParaRPr lang="en-US" sz="2000" b="0" i="0" dirty="0">
              <a:solidFill>
                <a:srgbClr val="3C3C3C"/>
              </a:solidFill>
              <a:effectLst/>
              <a:latin typeface="Open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3451" y="489258"/>
            <a:ext cx="33377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2-Step 3</a:t>
            </a:r>
          </a:p>
        </p:txBody>
      </p:sp>
    </p:spTree>
    <p:extLst>
      <p:ext uri="{BB962C8B-B14F-4D97-AF65-F5344CB8AC3E}">
        <p14:creationId xmlns:p14="http://schemas.microsoft.com/office/powerpoint/2010/main" val="335103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5346" y="418006"/>
            <a:ext cx="21419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3 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443" y="1280852"/>
            <a:ext cx="92126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is the total revenue for all the sales for </a:t>
            </a:r>
            <a:r>
              <a:rPr lang="en-US" sz="2400" b="1" dirty="0">
                <a:solidFill>
                  <a:srgbClr val="C00000"/>
                </a:solidFill>
              </a:rPr>
              <a:t>Young Adults</a:t>
            </a:r>
            <a:r>
              <a:rPr lang="en-US" sz="2400" dirty="0">
                <a:solidFill>
                  <a:srgbClr val="C00000"/>
                </a:solidFill>
              </a:rPr>
              <a:t> Age Group</a:t>
            </a:r>
            <a:r>
              <a:rPr lang="en-US" sz="24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346" y="2660134"/>
            <a:ext cx="648115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  <a:latin typeface="Open Sans"/>
              </a:rPr>
              <a:t>56053751</a:t>
            </a:r>
          </a:p>
          <a:p>
            <a:endParaRPr lang="en-US" sz="2800" b="0" i="0" dirty="0">
              <a:solidFill>
                <a:srgbClr val="00B0F0"/>
              </a:solidFill>
              <a:effectLst/>
              <a:latin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29918498</a:t>
            </a:r>
          </a:p>
          <a:p>
            <a:endParaRPr lang="en-US" sz="28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30655614</a:t>
            </a:r>
          </a:p>
          <a:p>
            <a:endParaRPr lang="en-US" sz="28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5556163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79" y="4063685"/>
            <a:ext cx="703613" cy="7515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01269" y="392191"/>
            <a:ext cx="154721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2</a:t>
            </a:r>
          </a:p>
        </p:txBody>
      </p:sp>
    </p:spTree>
    <p:extLst>
      <p:ext uri="{BB962C8B-B14F-4D97-AF65-F5344CB8AC3E}">
        <p14:creationId xmlns:p14="http://schemas.microsoft.com/office/powerpoint/2010/main" val="346896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9125" y="1258699"/>
            <a:ext cx="1055584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C3C3C"/>
                </a:solidFill>
                <a:latin typeface="Open Sans"/>
              </a:rPr>
              <a:t>Now, let's add a "</a:t>
            </a:r>
            <a:r>
              <a:rPr lang="en-US" sz="2400" dirty="0">
                <a:solidFill>
                  <a:srgbClr val="C00000"/>
                </a:solidFill>
                <a:latin typeface="Open Sans"/>
              </a:rPr>
              <a:t>Frame Size</a:t>
            </a:r>
            <a:r>
              <a:rPr lang="en-US" sz="2400" dirty="0">
                <a:solidFill>
                  <a:srgbClr val="3C3C3C"/>
                </a:solidFill>
                <a:latin typeface="Open Sans"/>
              </a:rPr>
              <a:t>" column.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C3C3C"/>
                </a:solidFill>
                <a:latin typeface="Open Sans"/>
              </a:rPr>
              <a:t>Insert a new column to the left of the </a:t>
            </a:r>
            <a:r>
              <a:rPr lang="en-US" sz="2400" dirty="0">
                <a:solidFill>
                  <a:srgbClr val="C00000"/>
                </a:solidFill>
                <a:latin typeface="Open Sans"/>
              </a:rPr>
              <a:t>Order Quantity</a:t>
            </a:r>
            <a:r>
              <a:rPr lang="en-US" sz="2400" dirty="0">
                <a:solidFill>
                  <a:srgbClr val="3C3C3C"/>
                </a:solidFill>
                <a:latin typeface="Open Sans"/>
              </a:rPr>
              <a:t>, and use formula to derive the frame size of a bicycle from the last two characters of the Product column, when the </a:t>
            </a:r>
            <a:r>
              <a:rPr lang="en-US" sz="2400" dirty="0">
                <a:solidFill>
                  <a:srgbClr val="C00000"/>
                </a:solidFill>
                <a:latin typeface="Open Sans"/>
              </a:rPr>
              <a:t>Product Category </a:t>
            </a:r>
            <a:r>
              <a:rPr lang="en-US" sz="2400" dirty="0">
                <a:solidFill>
                  <a:srgbClr val="3C3C3C"/>
                </a:solidFill>
                <a:latin typeface="Open Sans"/>
              </a:rPr>
              <a:t>is </a:t>
            </a:r>
            <a:r>
              <a:rPr lang="en-US" sz="2400" dirty="0">
                <a:solidFill>
                  <a:srgbClr val="C00000"/>
                </a:solidFill>
                <a:latin typeface="Open Sans"/>
              </a:rPr>
              <a:t>Bikes</a:t>
            </a:r>
            <a:r>
              <a:rPr lang="en-US" sz="2400" dirty="0">
                <a:solidFill>
                  <a:srgbClr val="3C3C3C"/>
                </a:solidFill>
                <a:latin typeface="Open Sans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C3C3C"/>
                </a:solidFill>
                <a:latin typeface="Open Sans"/>
              </a:rPr>
              <a:t>Otherwise, leave it blank.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Open Sans"/>
              </a:rPr>
              <a:t>HINT</a:t>
            </a:r>
            <a:r>
              <a:rPr lang="en-US" sz="2400" dirty="0">
                <a:solidFill>
                  <a:srgbClr val="3C3C3C"/>
                </a:solidFill>
                <a:latin typeface="Open Sans"/>
              </a:rPr>
              <a:t>: Use the </a:t>
            </a:r>
            <a:r>
              <a:rPr lang="en-US" sz="2400" dirty="0">
                <a:solidFill>
                  <a:srgbClr val="C00000"/>
                </a:solidFill>
                <a:latin typeface="Open Sans"/>
              </a:rPr>
              <a:t>IF() </a:t>
            </a:r>
            <a:r>
              <a:rPr lang="en-US" sz="2400" dirty="0">
                <a:solidFill>
                  <a:srgbClr val="3C3C3C"/>
                </a:solidFill>
                <a:latin typeface="Open Sans"/>
              </a:rPr>
              <a:t>and </a:t>
            </a:r>
            <a:r>
              <a:rPr lang="en-US" sz="2400" dirty="0">
                <a:solidFill>
                  <a:srgbClr val="C00000"/>
                </a:solidFill>
                <a:latin typeface="Open Sans"/>
              </a:rPr>
              <a:t>RIGHT() </a:t>
            </a:r>
            <a:r>
              <a:rPr lang="en-US" sz="2400" dirty="0">
                <a:solidFill>
                  <a:srgbClr val="3C3C3C"/>
                </a:solidFill>
                <a:latin typeface="Open Sans"/>
              </a:rPr>
              <a:t>function.</a:t>
            </a:r>
            <a:endParaRPr lang="en-US" sz="2000" b="0" i="0" dirty="0">
              <a:solidFill>
                <a:srgbClr val="3C3C3C"/>
              </a:solidFill>
              <a:effectLst/>
              <a:latin typeface="Open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8718" y="489258"/>
            <a:ext cx="33377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2-Step 4</a:t>
            </a:r>
          </a:p>
        </p:txBody>
      </p:sp>
    </p:spTree>
    <p:extLst>
      <p:ext uri="{BB962C8B-B14F-4D97-AF65-F5344CB8AC3E}">
        <p14:creationId xmlns:p14="http://schemas.microsoft.com/office/powerpoint/2010/main" val="385468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5346" y="418006"/>
            <a:ext cx="21419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4 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443" y="1280852"/>
            <a:ext cx="92126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is the total revenue for all the bikes with frame size </a:t>
            </a:r>
            <a:r>
              <a:rPr lang="en-US" sz="2400" dirty="0">
                <a:solidFill>
                  <a:srgbClr val="C00000"/>
                </a:solidFill>
              </a:rPr>
              <a:t>62</a:t>
            </a:r>
            <a:r>
              <a:rPr lang="en-US" sz="2400" dirty="0"/>
              <a:t> for the customer age group </a:t>
            </a:r>
            <a:r>
              <a:rPr lang="en-US" sz="2400" dirty="0">
                <a:solidFill>
                  <a:srgbClr val="C00000"/>
                </a:solidFill>
              </a:rPr>
              <a:t>Seniors</a:t>
            </a:r>
            <a:r>
              <a:rPr lang="en-US" sz="24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346" y="2660134"/>
            <a:ext cx="648115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  <a:latin typeface="Open Sans"/>
              </a:rPr>
              <a:t>22914</a:t>
            </a:r>
          </a:p>
          <a:p>
            <a:endParaRPr lang="en-US" sz="2800" b="0" i="0" dirty="0">
              <a:solidFill>
                <a:srgbClr val="00B0F0"/>
              </a:solidFill>
              <a:effectLst/>
              <a:latin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125893</a:t>
            </a:r>
          </a:p>
          <a:p>
            <a:endParaRPr lang="en-US" sz="28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159102</a:t>
            </a:r>
          </a:p>
          <a:p>
            <a:endParaRPr lang="en-US" sz="28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12452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666" y="5017090"/>
            <a:ext cx="703613" cy="7515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01269" y="392191"/>
            <a:ext cx="154721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2</a:t>
            </a:r>
          </a:p>
        </p:txBody>
      </p:sp>
    </p:spTree>
    <p:extLst>
      <p:ext uri="{BB962C8B-B14F-4D97-AF65-F5344CB8AC3E}">
        <p14:creationId xmlns:p14="http://schemas.microsoft.com/office/powerpoint/2010/main" val="376023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9125" y="1258699"/>
            <a:ext cx="1055584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Last but not least, let's add a "</a:t>
            </a:r>
            <a:r>
              <a:rPr lang="en-US" sz="2400" dirty="0">
                <a:solidFill>
                  <a:srgbClr val="C00000"/>
                </a:solidFill>
              </a:rPr>
              <a:t>Profit</a:t>
            </a:r>
            <a:r>
              <a:rPr lang="en-US" sz="2400" dirty="0"/>
              <a:t>" column.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Insert a new column to the right of the </a:t>
            </a:r>
            <a:r>
              <a:rPr lang="en-US" sz="2400" b="1" dirty="0">
                <a:solidFill>
                  <a:srgbClr val="C00000"/>
                </a:solidFill>
              </a:rPr>
              <a:t>Revenue</a:t>
            </a:r>
            <a:r>
              <a:rPr lang="en-US" sz="2400" dirty="0"/>
              <a:t>, and use formula to derive the Profit from both the </a:t>
            </a:r>
            <a:r>
              <a:rPr lang="en-US" sz="2400" b="1" dirty="0">
                <a:solidFill>
                  <a:srgbClr val="C00000"/>
                </a:solidFill>
              </a:rPr>
              <a:t>Revenue</a:t>
            </a:r>
            <a:r>
              <a:rPr lang="en-US" sz="2400" dirty="0"/>
              <a:t> and </a:t>
            </a:r>
            <a:r>
              <a:rPr lang="en-US" sz="2400" b="1" dirty="0">
                <a:solidFill>
                  <a:srgbClr val="C00000"/>
                </a:solidFill>
              </a:rPr>
              <a:t>Cost</a:t>
            </a:r>
            <a:r>
              <a:rPr lang="en-US" sz="2400" dirty="0"/>
              <a:t> columns.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Show the total for the </a:t>
            </a:r>
            <a:r>
              <a:rPr lang="en-US" sz="2400" b="1" dirty="0">
                <a:solidFill>
                  <a:srgbClr val="C00000"/>
                </a:solidFill>
              </a:rPr>
              <a:t>Profit</a:t>
            </a:r>
            <a:r>
              <a:rPr lang="en-US" sz="2400" dirty="0"/>
              <a:t> column.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 the Sum aggregation in the total row of the table, for the </a:t>
            </a:r>
            <a:r>
              <a:rPr lang="en-US" sz="2400" b="1" dirty="0">
                <a:solidFill>
                  <a:srgbClr val="C00000"/>
                </a:solidFill>
              </a:rPr>
              <a:t>Profit</a:t>
            </a:r>
            <a:r>
              <a:rPr lang="en-US" sz="2400" dirty="0"/>
              <a:t> column. </a:t>
            </a:r>
            <a:br>
              <a:rPr lang="en-US" sz="2400" dirty="0"/>
            </a:br>
            <a:r>
              <a:rPr lang="en-US" sz="2400" dirty="0">
                <a:solidFill>
                  <a:srgbClr val="C00000"/>
                </a:solidFill>
              </a:rPr>
              <a:t>HINT</a:t>
            </a:r>
            <a:r>
              <a:rPr lang="en-US" sz="2400" dirty="0"/>
              <a:t>: </a:t>
            </a:r>
            <a:r>
              <a:rPr lang="en-US" sz="2400" b="1" dirty="0">
                <a:solidFill>
                  <a:srgbClr val="C00000"/>
                </a:solidFill>
              </a:rPr>
              <a:t>Profit</a:t>
            </a:r>
            <a:r>
              <a:rPr lang="en-US" sz="2400" dirty="0"/>
              <a:t> is </a:t>
            </a:r>
            <a:r>
              <a:rPr lang="en-US" sz="2400" b="1" dirty="0">
                <a:solidFill>
                  <a:srgbClr val="C00000"/>
                </a:solidFill>
              </a:rPr>
              <a:t>Revenue</a:t>
            </a:r>
            <a:r>
              <a:rPr lang="en-US" sz="2400" dirty="0"/>
              <a:t> less </a:t>
            </a:r>
            <a:r>
              <a:rPr lang="en-US" sz="2400" b="1" dirty="0">
                <a:solidFill>
                  <a:srgbClr val="C00000"/>
                </a:solidFill>
              </a:rPr>
              <a:t>Cost</a:t>
            </a:r>
            <a:r>
              <a:rPr lang="en-US" sz="2400" dirty="0"/>
              <a:t>.</a:t>
            </a:r>
            <a:endParaRPr lang="en-US" sz="2000" b="0" i="0" dirty="0">
              <a:solidFill>
                <a:srgbClr val="3C3C3C"/>
              </a:solidFill>
              <a:effectLst/>
              <a:latin typeface="Open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9561" y="489258"/>
            <a:ext cx="350769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2 –Step 5</a:t>
            </a:r>
          </a:p>
        </p:txBody>
      </p:sp>
    </p:spTree>
    <p:extLst>
      <p:ext uri="{BB962C8B-B14F-4D97-AF65-F5344CB8AC3E}">
        <p14:creationId xmlns:p14="http://schemas.microsoft.com/office/powerpoint/2010/main" val="59736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5346" y="418006"/>
            <a:ext cx="21419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5 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443" y="1280852"/>
            <a:ext cx="92126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is the total profit for </a:t>
            </a:r>
            <a:r>
              <a:rPr lang="en-US" sz="2400" b="1" dirty="0">
                <a:solidFill>
                  <a:srgbClr val="C00000"/>
                </a:solidFill>
              </a:rPr>
              <a:t>United States</a:t>
            </a:r>
            <a:r>
              <a:rPr lang="en-US" sz="2400" dirty="0"/>
              <a:t> sales in the month of </a:t>
            </a:r>
            <a:r>
              <a:rPr lang="en-US" sz="2400" b="1" dirty="0">
                <a:solidFill>
                  <a:srgbClr val="C00000"/>
                </a:solidFill>
              </a:rPr>
              <a:t>October 2015</a:t>
            </a:r>
            <a:r>
              <a:rPr lang="en-US" sz="2400" dirty="0"/>
              <a:t>, for customer age group </a:t>
            </a:r>
            <a:r>
              <a:rPr lang="en-US" sz="2400" b="1" dirty="0">
                <a:solidFill>
                  <a:srgbClr val="C00000"/>
                </a:solidFill>
              </a:rPr>
              <a:t>Adults</a:t>
            </a:r>
            <a:r>
              <a:rPr lang="en-US" sz="24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346" y="2660134"/>
            <a:ext cx="648115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  <a:latin typeface="Open Sans"/>
              </a:rPr>
              <a:t>111823</a:t>
            </a:r>
          </a:p>
          <a:p>
            <a:endParaRPr lang="en-US" sz="2800" b="0" i="0" dirty="0">
              <a:solidFill>
                <a:srgbClr val="00B0F0"/>
              </a:solidFill>
              <a:effectLst/>
              <a:latin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142036</a:t>
            </a:r>
          </a:p>
          <a:p>
            <a:endParaRPr lang="en-US" sz="28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148903</a:t>
            </a:r>
          </a:p>
          <a:p>
            <a:endParaRPr lang="en-US" sz="28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138419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472" y="4996144"/>
            <a:ext cx="703613" cy="7515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01269" y="392191"/>
            <a:ext cx="154721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2</a:t>
            </a:r>
          </a:p>
        </p:txBody>
      </p:sp>
    </p:spTree>
    <p:extLst>
      <p:ext uri="{BB962C8B-B14F-4D97-AF65-F5344CB8AC3E}">
        <p14:creationId xmlns:p14="http://schemas.microsoft.com/office/powerpoint/2010/main" val="21323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58190" y="2967335"/>
            <a:ext cx="36756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Feed back </a:t>
            </a:r>
          </a:p>
        </p:txBody>
      </p:sp>
    </p:spTree>
    <p:extLst>
      <p:ext uri="{BB962C8B-B14F-4D97-AF65-F5344CB8AC3E}">
        <p14:creationId xmlns:p14="http://schemas.microsoft.com/office/powerpoint/2010/main" val="14796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714</TotalTime>
  <Words>1014</Words>
  <Application>Microsoft Office PowerPoint</Application>
  <PresentationFormat>Widescreen</PresentationFormat>
  <Paragraphs>146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Open Sans</vt:lpstr>
      <vt:lpstr>Segoe UI</vt:lpstr>
      <vt:lpstr>Trebuchet MS</vt:lpstr>
      <vt:lpstr>Wingdings 3</vt:lpstr>
      <vt:lpstr>Facet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saidf</cp:lastModifiedBy>
  <cp:revision>66</cp:revision>
  <dcterms:created xsi:type="dcterms:W3CDTF">2016-11-14T07:59:55Z</dcterms:created>
  <dcterms:modified xsi:type="dcterms:W3CDTF">2022-08-08T07:18:31Z</dcterms:modified>
</cp:coreProperties>
</file>