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68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9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6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0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9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1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1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1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0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8178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43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720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0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2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14" y="601683"/>
            <a:ext cx="11420141" cy="17337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358" y="4818566"/>
            <a:ext cx="1117645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Module 01: </a:t>
            </a:r>
          </a:p>
          <a:p>
            <a:pPr algn="ctr"/>
            <a:r>
              <a:rPr lang="en-US" sz="54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Reporting I</a:t>
            </a:r>
            <a:r>
              <a:rPr lang="en-US" sz="5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 Excel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530272" y="2896105"/>
            <a:ext cx="7295638" cy="1066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endParaRPr lang="en-US" sz="3200" dirty="0">
              <a:solidFill>
                <a:prstClr val="black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171" y="3052881"/>
            <a:ext cx="2280557" cy="7830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9" name="Rectangle 8"/>
          <p:cNvSpPr/>
          <p:nvPr/>
        </p:nvSpPr>
        <p:spPr>
          <a:xfrm>
            <a:off x="5000477" y="2982728"/>
            <a:ext cx="3362074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Said </a:t>
            </a:r>
            <a:r>
              <a:rPr lang="en-US" sz="5400" b="1" cap="none" spc="50" dirty="0" err="1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Fawzy</a:t>
            </a:r>
            <a:endParaRPr lang="en-US" sz="5400" b="1" cap="none" spc="5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825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428" y="1905506"/>
            <a:ext cx="10927532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Demo 1</a:t>
            </a:r>
            <a:b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Creating Charts </a:t>
            </a:r>
          </a:p>
        </p:txBody>
      </p:sp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715074" y="1820409"/>
            <a:ext cx="2401619" cy="4093694"/>
            <a:chOff x="715074" y="1820409"/>
            <a:chExt cx="2401619" cy="409369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322" y="1820409"/>
              <a:ext cx="2143125" cy="214312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715074" y="4375220"/>
              <a:ext cx="2401619" cy="153888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YOU</a:t>
              </a:r>
            </a:p>
            <a:p>
              <a:pPr algn="ctr"/>
              <a:r>
                <a:rPr lang="en-US" sz="4000" dirty="0">
                  <a:ln w="0"/>
                  <a:solidFill>
                    <a:srgbClr val="0070C0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presenter</a:t>
              </a:r>
              <a:endParaRPr lang="en-US" sz="4000" b="0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94489" y="502784"/>
            <a:ext cx="2791248" cy="4179491"/>
            <a:chOff x="3994489" y="502784"/>
            <a:chExt cx="2791248" cy="417949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0487" y="502784"/>
              <a:ext cx="2635250" cy="26352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3994489" y="3204947"/>
              <a:ext cx="2438167" cy="147732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Jack </a:t>
              </a:r>
            </a:p>
            <a:p>
              <a:pPr algn="ctr"/>
              <a:r>
                <a:rPr lang="en-US" sz="3600" dirty="0">
                  <a:ln w="0"/>
                  <a:solidFill>
                    <a:srgbClr val="0070C0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IT Manager</a:t>
              </a:r>
              <a:endParaRPr lang="en-US" sz="3600" b="0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59123" y="303893"/>
            <a:ext cx="3940502" cy="5922624"/>
            <a:chOff x="6559123" y="303893"/>
            <a:chExt cx="3940502" cy="592262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9101" y="303893"/>
              <a:ext cx="2140547" cy="449458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559123" y="4749189"/>
              <a:ext cx="3940502" cy="147732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Lucy</a:t>
              </a:r>
            </a:p>
            <a:p>
              <a:pPr algn="ctr"/>
              <a:r>
                <a:rPr lang="en-US" sz="3600" dirty="0">
                  <a:ln w="0"/>
                  <a:solidFill>
                    <a:srgbClr val="0070C0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New Sales Manage</a:t>
              </a:r>
              <a:endParaRPr lang="en-US" sz="3600" b="0" cap="none" spc="0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EC36CFC-9FCB-6A34-C925-2DFF8D0A3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64" y="288015"/>
            <a:ext cx="1645381" cy="153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8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18" y="562429"/>
            <a:ext cx="1083945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1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9364" y="2347362"/>
            <a:ext cx="728385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Knowledge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45157" y="3815761"/>
            <a:ext cx="190629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7200" b="1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70781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d37djvu3ytnwxt.cloudfront.net/assets/courseware/v1/efdeb05ea5e85b6ba964a11d67a7309c/asset-v1:Microsoft+DAT205x+3T2016+type@asset+block/mod1-kc-q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040" y="1696350"/>
            <a:ext cx="3705225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7580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22222"/>
                </a:solidFill>
                <a:effectLst/>
                <a:latin typeface="Open Sans"/>
              </a:rPr>
              <a:t>You are asked to display a trend for each product by year. What should you do?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B0F0"/>
                </a:solidFill>
                <a:effectLst/>
                <a:latin typeface="Open Sans"/>
              </a:rPr>
              <a:t>Change the chart type to pie chart.</a:t>
            </a:r>
          </a:p>
          <a:p>
            <a:endParaRPr lang="en-US" sz="20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Modify the chart to have the product categories as Legend and years as horizontal axis.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Transpose the table, and create the chart from scratch.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Add summary for each year, and insert a new column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498" y="3225915"/>
            <a:ext cx="703613" cy="7515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94135" y="5091569"/>
            <a:ext cx="5553694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/>
              </a:rPr>
              <a:t>We need to have the product categories as Legend and years as Horizontal axis. You can do this by switching rows and columns using the Switch Rows/Columns button in the ribbon.</a:t>
            </a:r>
          </a:p>
        </p:txBody>
      </p:sp>
      <p:pic>
        <p:nvPicPr>
          <p:cNvPr id="1027" name="DefaultOcx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90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6" y="941226"/>
            <a:ext cx="84948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You have collected the following data and are considering using a pie chart to display it.</a:t>
            </a:r>
          </a:p>
          <a:p>
            <a:endParaRPr lang="en-US" sz="2400" dirty="0"/>
          </a:p>
          <a:p>
            <a:r>
              <a:rPr lang="en-US" sz="2400" dirty="0"/>
              <a:t>What is a problem that you are likely to encounter by using a pie chart?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03" y="3135147"/>
            <a:ext cx="758425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You will have to put the legend below or above the pie because the county names are too long to appear next to the appropriate slice</a:t>
            </a:r>
          </a:p>
          <a:p>
            <a:endParaRPr lang="en-US" sz="2000" b="0" i="0" dirty="0">
              <a:solidFill>
                <a:srgbClr val="0070C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differences in the data are too small between Canada, Germany, and the United Kingdom for the pie chart to have value.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pie chart will only show one of the year’s data.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numbers collected in the data exceed those that can be used effectively in a pie chart.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39" y="5267856"/>
            <a:ext cx="703613" cy="751587"/>
          </a:xfrm>
          <a:prstGeom prst="rect">
            <a:avLst/>
          </a:prstGeom>
        </p:spPr>
      </p:pic>
      <p:pic>
        <p:nvPicPr>
          <p:cNvPr id="2052" name="Picture 4" descr="https://d37djvu3ytnwxt.cloudfront.net/assets/courseware/v1/8e5f7623a57a027f4717a595c0355fa1/asset-v1:Microsoft+DAT205x+3T2016+type@asset+block/mod1-kc-q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167" y="1332889"/>
            <a:ext cx="3094655" cy="15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023326" y="5843579"/>
            <a:ext cx="6154057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Pie charts only include data that is the first column of data and will ignore any other columns in the data.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831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3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6" y="941226"/>
            <a:ext cx="84948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You have collected the following data and want to use a chart to display it.</a:t>
            </a:r>
          </a:p>
          <a:p>
            <a:endParaRPr lang="en-US" sz="2400" dirty="0"/>
          </a:p>
          <a:p>
            <a:r>
              <a:rPr lang="en-US" sz="2400" dirty="0"/>
              <a:t>Which chart should you use to display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03" y="3135147"/>
            <a:ext cx="75842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Histogram</a:t>
            </a:r>
          </a:p>
          <a:p>
            <a:endParaRPr lang="en-US" sz="2000" b="0" i="0" dirty="0">
              <a:solidFill>
                <a:srgbClr val="0070C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Line chart.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Pie chart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Scatter plot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17" y="3506944"/>
            <a:ext cx="703613" cy="751587"/>
          </a:xfrm>
          <a:prstGeom prst="rect">
            <a:avLst/>
          </a:prstGeom>
        </p:spPr>
      </p:pic>
      <p:pic>
        <p:nvPicPr>
          <p:cNvPr id="2052" name="Picture 4" descr="https://d37djvu3ytnwxt.cloudfront.net/assets/courseware/v1/8e5f7623a57a027f4717a595c0355fa1/asset-v1:Microsoft+DAT205x+3T2016+type@asset+block/mod1-kc-q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167" y="1332889"/>
            <a:ext cx="3094655" cy="15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5689600" y="5670529"/>
            <a:ext cx="639622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You can create a line chart showing each country as a separate line for the 3 years of data that you have.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07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346" y="941226"/>
            <a:ext cx="84948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You are asked to display the percentage of sales by category for each year in a column chart.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03" y="3135147"/>
            <a:ext cx="75842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</a:t>
            </a:r>
          </a:p>
          <a:p>
            <a:endParaRPr lang="en-US" sz="2000" b="0" i="0" dirty="0">
              <a:solidFill>
                <a:srgbClr val="0070C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A and B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B and C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C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25" y="4737207"/>
            <a:ext cx="703613" cy="7515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09681" y="5934670"/>
            <a:ext cx="555369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C is a 100% Stacked Column chart that shows the ratio between the series for each category.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  <p:pic>
        <p:nvPicPr>
          <p:cNvPr id="3074" name="Picture 2" descr="https://d37djvu3ytnwxt.cloudfront.net/assets/courseware/v1/5afbed1e0da163a58b0de8daf8e3aa79/asset-v1:Microsoft+DAT205x+3T2016+type@asset+block/mod1-kc-q4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856" y="1392350"/>
            <a:ext cx="316230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37djvu3ytnwxt.cloudfront.net/assets/courseware/v1/4944bd16473d749a228cb96bbcd6738d/asset-v1:Microsoft+DAT205x+3T2016+type@asset+block/mod1-kc-q4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913" y="1549513"/>
            <a:ext cx="3009900" cy="130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57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1328" y="2848582"/>
            <a:ext cx="280557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Lab</a:t>
            </a:r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1</a:t>
            </a:r>
            <a:endParaRPr lang="en-US" sz="8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782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695" y="489258"/>
            <a:ext cx="21563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03562" y="1403797"/>
            <a:ext cx="9456717" cy="1294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You are the new marketing manager of an established Bicycle company.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The company sells bicycles and accessories, such as clothing and other accessories to bikers in six countries.</a:t>
            </a:r>
            <a:endParaRPr lang="en-US" dirty="0"/>
          </a:p>
        </p:txBody>
      </p:sp>
      <p:pic>
        <p:nvPicPr>
          <p:cNvPr id="5122" name="Picture 2" descr="https://d37djvu3ytnwxt.cloudfront.net/assets/courseware/v1/145a24f98e4519dbb5830fd8960bfca7/asset-v1:Microsoft+DAT205x+3T2016+type@asset+block/b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996" y="2697869"/>
            <a:ext cx="6448755" cy="333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590805" y="489258"/>
            <a:ext cx="517033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C00000"/>
                </a:solidFill>
                <a:effectLst/>
                <a:latin typeface="Open Sans"/>
              </a:rPr>
              <a:t>Use Data in file  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Open Sans"/>
              </a:rPr>
              <a:t>Lab1Start v5.xlsx.</a:t>
            </a:r>
          </a:p>
        </p:txBody>
      </p:sp>
    </p:spTree>
    <p:extLst>
      <p:ext uri="{BB962C8B-B14F-4D97-AF65-F5344CB8AC3E}">
        <p14:creationId xmlns:p14="http://schemas.microsoft.com/office/powerpoint/2010/main" val="208330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711" y="1098741"/>
            <a:ext cx="84948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The company has just hired Lucy as its new Sales manager.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You are tasked to introduce Lucy to the company, its product portfolio and its sales performance since 2011.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To do this, you have asked Jack, the IT manager to prepare some data for you.</a:t>
            </a:r>
            <a:endParaRPr lang="en-US" dirty="0"/>
          </a:p>
        </p:txBody>
      </p:sp>
      <p:pic>
        <p:nvPicPr>
          <p:cNvPr id="6146" name="Picture 2" descr="https://d37djvu3ytnwxt.cloudfront.net/assets/courseware/v1/644968421ee57d22dd8a38576550fd15/asset-v1:Microsoft+DAT205x+3T2016+type@asset+block/jl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089" y="2853067"/>
            <a:ext cx="4811828" cy="249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0843" y="5908625"/>
            <a:ext cx="7414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Now, it's your job to present this data in a compelling manner.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843" y="329300"/>
            <a:ext cx="215636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Scenario</a:t>
            </a:r>
          </a:p>
        </p:txBody>
      </p:sp>
    </p:spTree>
    <p:extLst>
      <p:ext uri="{BB962C8B-B14F-4D97-AF65-F5344CB8AC3E}">
        <p14:creationId xmlns:p14="http://schemas.microsoft.com/office/powerpoint/2010/main" val="139446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948" y="305889"/>
            <a:ext cx="35076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 –Step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77931" y="1439423"/>
            <a:ext cx="1094113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The first thing you'd like to do is to present the data graphically.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You do this by creating charts for the three groups of data you received from Jack, your IT manager.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 If you haven't done so, give the chart a descriptive title.</a:t>
            </a:r>
            <a:endParaRPr lang="en-US" dirty="0"/>
          </a:p>
        </p:txBody>
      </p:sp>
      <p:pic>
        <p:nvPicPr>
          <p:cNvPr id="7170" name="Picture 2" descr="https://d37djvu3ytnwxt.cloudfront.net/assets/courseware/v1/6d5311d2f9935b5128c6880f13e980d2/asset-v1:Microsoft+DAT205x+3T2016+type@asset+block/lab1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48" y="3348841"/>
            <a:ext cx="11159117" cy="27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8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2326" y="1328816"/>
            <a:ext cx="926671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Once you have created the three charts above, let's customize them a little bit more.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For the "Yearly Category Revenue", display the total for each year as a separate line.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Create a total line in the range B7 to H7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Yearly Category Revenue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chart.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The data source for the chart is highlighted.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Drag the highlighted selection to include the total row (B7 to H7)</a:t>
            </a:r>
          </a:p>
        </p:txBody>
      </p:sp>
      <p:sp>
        <p:nvSpPr>
          <p:cNvPr id="3" name="Rectangle 2"/>
          <p:cNvSpPr/>
          <p:nvPr/>
        </p:nvSpPr>
        <p:spPr>
          <a:xfrm>
            <a:off x="614951" y="453045"/>
            <a:ext cx="35076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1- Step 2</a:t>
            </a:r>
          </a:p>
        </p:txBody>
      </p:sp>
    </p:spTree>
    <p:extLst>
      <p:ext uri="{BB962C8B-B14F-4D97-AF65-F5344CB8AC3E}">
        <p14:creationId xmlns:p14="http://schemas.microsoft.com/office/powerpoint/2010/main" val="10728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75804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does the Yearly total sales look like?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B0F0"/>
                </a:solidFill>
                <a:effectLst/>
                <a:latin typeface="Open Sans"/>
              </a:rPr>
              <a:t>Increasing year over year.</a:t>
            </a:r>
          </a:p>
          <a:p>
            <a:endParaRPr lang="en-US" sz="20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Similar to the yearly bikes revenue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Decreasing year over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Similar to the yearly accessories revenue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314" y="3031931"/>
            <a:ext cx="703613" cy="7515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849256" y="5425482"/>
            <a:ext cx="617614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While the company introduces new product category, the yearly sales relatively mirrored the yearly bike sales. This might require further investigation!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73404" y="392191"/>
            <a:ext cx="14029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323308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9204" y="1506809"/>
            <a:ext cx="84710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For the "Revenue by Category", display the percentage for each component.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Revenue by Category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chart.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 pie in the chart, right-click and add data labels.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Percentage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in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Label Options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511" y="416830"/>
            <a:ext cx="367761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 – Step 3</a:t>
            </a:r>
          </a:p>
        </p:txBody>
      </p:sp>
    </p:spTree>
    <p:extLst>
      <p:ext uri="{BB962C8B-B14F-4D97-AF65-F5344CB8AC3E}">
        <p14:creationId xmlns:p14="http://schemas.microsoft.com/office/powerpoint/2010/main" val="8611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443" y="1280852"/>
            <a:ext cx="9551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percentage of the total revenue comes from the </a:t>
            </a:r>
            <a:r>
              <a:rPr lang="en-US" sz="2400" b="1" dirty="0">
                <a:solidFill>
                  <a:srgbClr val="C00000"/>
                </a:solidFill>
              </a:rPr>
              <a:t>Bikes</a:t>
            </a:r>
            <a:r>
              <a:rPr lang="en-US" sz="2400" dirty="0"/>
              <a:t> category?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346" y="2660134"/>
            <a:ext cx="64811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B0F0"/>
                </a:solidFill>
                <a:effectLst/>
                <a:latin typeface="Open Sans"/>
              </a:rPr>
              <a:t>10%.</a:t>
            </a:r>
          </a:p>
          <a:p>
            <a:endParaRPr lang="en-US" sz="2000" b="0" i="0" dirty="0">
              <a:solidFill>
                <a:srgbClr val="00B0F0"/>
              </a:solidFill>
              <a:effectLst/>
              <a:latin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18%</a:t>
            </a:r>
          </a:p>
          <a:p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36%.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F0"/>
                </a:solidFill>
              </a:rPr>
              <a:t>72%.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51" y="4264408"/>
            <a:ext cx="703613" cy="7515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631544" y="5425482"/>
            <a:ext cx="621211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C00000"/>
                </a:solidFill>
                <a:effectLst/>
                <a:latin typeface="Open Sans"/>
              </a:rPr>
              <a:t>Explanation</a:t>
            </a:r>
          </a:p>
          <a:p>
            <a:r>
              <a:rPr lang="en-US" dirty="0"/>
              <a:t>While the company introduces new product category, the yearly sales relatively mirrored the yearly bike sales. This might require further investigation!</a:t>
            </a:r>
            <a:endParaRPr lang="en-US" b="0" i="0" dirty="0">
              <a:solidFill>
                <a:srgbClr val="222222"/>
              </a:solidFill>
              <a:effectLst/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73404" y="392191"/>
            <a:ext cx="14029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163169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9204" y="1506809"/>
            <a:ext cx="9444843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For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Revenue by Country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, sort the countries from the one with highest revenue to lowest revenue.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 data source for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Revenue by Country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chart.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Sort the data by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Revenue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from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Largest to Smallest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Revenue by Country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chart.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 the Y axis, the axis that shows the country name.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Select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Categories in reverse order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 in the </a:t>
            </a:r>
            <a:r>
              <a:rPr lang="en-US" b="1" i="0" dirty="0">
                <a:solidFill>
                  <a:srgbClr val="C00000"/>
                </a:solidFill>
                <a:effectLst/>
                <a:latin typeface="Open Sans"/>
              </a:rPr>
              <a:t>Axis options</a:t>
            </a:r>
            <a:r>
              <a:rPr lang="en-US" b="0" i="0" dirty="0">
                <a:solidFill>
                  <a:srgbClr val="3C3C3C"/>
                </a:solidFill>
                <a:effectLst/>
                <a:latin typeface="Open Sans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721" y="434937"/>
            <a:ext cx="350769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 –Step 4</a:t>
            </a:r>
          </a:p>
        </p:txBody>
      </p:sp>
    </p:spTree>
    <p:extLst>
      <p:ext uri="{BB962C8B-B14F-4D97-AF65-F5344CB8AC3E}">
        <p14:creationId xmlns:p14="http://schemas.microsoft.com/office/powerpoint/2010/main" val="155756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481" y="1967519"/>
            <a:ext cx="7239000" cy="48387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346" y="418006"/>
            <a:ext cx="2042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0" u="sng" dirty="0">
                <a:solidFill>
                  <a:srgbClr val="C00000"/>
                </a:solidFill>
                <a:effectLst/>
                <a:latin typeface="Open Sans"/>
              </a:rPr>
              <a:t>Question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8044" y="1038874"/>
            <a:ext cx="76279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Rank the Countries from the highest to lowest revenue. (Highest in Zone 1, Lowest in Zone 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73404" y="392191"/>
            <a:ext cx="140294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Lab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93" y="1929419"/>
            <a:ext cx="71247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0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04693" y="2686678"/>
            <a:ext cx="3675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Feed back </a:t>
            </a:r>
          </a:p>
        </p:txBody>
      </p:sp>
    </p:spTree>
    <p:extLst>
      <p:ext uri="{BB962C8B-B14F-4D97-AF65-F5344CB8AC3E}">
        <p14:creationId xmlns:p14="http://schemas.microsoft.com/office/powerpoint/2010/main" val="14796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216</TotalTime>
  <Words>877</Words>
  <Application>Microsoft Office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Open Sans</vt:lpstr>
      <vt:lpstr>Segoe UI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saidf</cp:lastModifiedBy>
  <cp:revision>36</cp:revision>
  <dcterms:created xsi:type="dcterms:W3CDTF">2016-11-14T07:59:55Z</dcterms:created>
  <dcterms:modified xsi:type="dcterms:W3CDTF">2022-08-31T06:58:35Z</dcterms:modified>
</cp:coreProperties>
</file>